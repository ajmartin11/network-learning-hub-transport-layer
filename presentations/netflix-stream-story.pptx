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walks through the complete technical journey of a Netflix stream — from the moment a viewer taps play to the pixels appearing on their screen. The entire process completes in under two seconds. We'll cover eleven distinct hops across five chapters: the request, identity and rights, the decision, delivery, and decode &amp;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covers the first two steps of the chain — what happens the moment you tap play on your device, up to the moment Netflix's internal systems receive and route the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When you tap that play button, your device doesn't just start downloading video. It first has to negotiate with Netflix's servers. The app sends an authenticated request — think of it like showing your ticket before entering. The token proves you're logged in, and TLS ensures no one can intercept it in transit. This round-trip to the gateway typically takes under 20 milliseconds on a good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gateway is Netflix's bouncer. At peak hours, Netflix is handling tens of thousands of requests per second across its global infrastructure. The gateway routes yours to the right place without breaking a sweat. Netflix runs most of this on AWS but has heavily customized it with internal tooling. The key insight is that the gateway doesn't do anything heavyweight — it just directs traffic. The heavy work happens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is about proving who you are and confirming what you're allowed to watch. Two distinct services handle this — authentication and DRM licensing.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Authentication is more than just 'are you logged in.' Netflix has to check your plan — are you on Standard or Premium? Can you watch in 4K? How many simultaneous streams does your plan allow? Are you in a region where this title is licensed? All of these checks happen at this step, before Netflix commits to serving you anything. It's a fast lookup but it's carrying a lot of business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where digital rights management — DRM — enters the picture. The video sitting on Netflix's CDN servers is always encrypted, even on the server itself. The license server hands your device a key that only works for this session, this device, and this title. The key expires. If you try to play the same file somewhere else without a fresh key, it won't decrypt. This is the technical backbone of why Netflix content can't simply be ripped and shared.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is a single step — the playback API — but it's doing a lot of thinking. This is where Netflix decides exactly what to send you before a single video byte is transmitted.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Before any video data moves, Netflix has already decided what it's going to send you. The playback API is essentially a smart routing and configuration step. If you're on a 4K OLED TV with a fast connection, it'll point you at a 4K AV1 stream on the nearest CDN node. If you're on a three-year-old phone on a middling WiFi network, it'll choose a lower starting quality and a codec your device can decode efficiently. All of this happens invisibly before playback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is about how the video data physically gets to your device. This is where Netflix's Open Connect CDN comes in — one of the most distinctive parts of their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Open Connect is perhaps Netflix's most strategically important infrastructure investment. By placing servers inside ISPs, Netflix doesn't have to pay for the transit between its origin servers and the ISP's network — the ISP gets better quality video for its customers, Netflix gets lower delivery costs. Win-win. During peak hours, an estimated 30 to 40 percent of downstream internet traffic in North America is Netflix. Open Connect is how they handle that scale without collapsing the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is the final leg — what happens on your device after the encrypted video data arrives. This is where the raw bytes become what you actually see and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data arriving from Open Connect is just encrypted bytes. Your device's hardware — a dedicated video decode chip — does the heavy lifting of turning those bytes into raw pixel data. Hardware decoding is important because software decoding the same data would drain your battery much faster and stress your CPU. The shift to AV1 is a big deal — it means Netflix can deliver the same picture quality to more users on slower connections, which matters enormously for mobile viewers worldwide.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frame buffer is why video playback feels smooth even when things aren't perfectly consistent. Imagine the decoder is a factory and the screen is a customer. The frame buffer is the warehouse between them — it absorbs small variations in production speed so the customer always has what they need. Without this buffer, any tiny decode delay would cause a visible dropped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Your screen never receives just the raw video frame. The operating system's compositor layers everything together — the video is actually the bottom layer, with the UI elements floating above it. Every second, the compositor is assembling 24 or more of these layered compositions and passing them to the display hardware. This is also where HDR tone mapping happens on compatible displays — the compositor adjusts the color space to match what your screen can actually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Audio and video are two completely separate streams that have to stay perfectly synchronized. The A/V clock is the thing that keeps them in lockstep. It constantly monitors both streams' timestamps and can subtly speed up or slow down audio playback to compensate for any drift. Dolby Atmos, which Netflix uses for many titles, adds another layer of complexity — it's an object-based audio format where individual sounds are positioned in 3D space and the renderer maps those positions to whatever speaker configuration you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And this is the end of the line. After eleven hops, two parallel pipelines, cryptographic handshakes, and hardware decode — the signal becomes light hitting your eyes and sound hitting your ears. The OLED or LCD panel is receiving fresh pixel data dozens of times per second. The DAC is doing an entirely different kind of signal transformation to drive your speakers. All of this is invisible and instantaneous from your perspective. That's the engineering achievement worth appreciating.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 under two seconds, a request becomes a stream. Eleven distinct technical steps, two parallel pipelines for video and audio, a custom CDN that lives inside your ISP, hardware decode chips, DRM licenses, and an A/V clock keeping everything synchronized. The next time someone's video just... starts — that's what happened.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9144000" cy="1280160"/>
          </a:xfrm>
          <a:prstGeom prst="rect">
            <a:avLst/>
          </a:prstGeom>
          <a:solidFill>
            <a:srgbClr val="12121A"/>
          </a:solidFill>
          <a:ln w="12700">
            <a:solidFill>
              <a:srgbClr val="12121A"/>
            </a:solidFill>
            <a:prstDash val="solid"/>
          </a:ln>
        </p:spPr>
      </p:sp>
      <p:sp>
        <p:nvSpPr>
          <p:cNvPr id="3" name="Shape 1"/>
          <p:cNvSpPr/>
          <p:nvPr/>
        </p:nvSpPr>
        <p:spPr>
          <a:xfrm>
            <a:off x="0" y="1280160"/>
            <a:ext cx="9144000" cy="36576"/>
          </a:xfrm>
          <a:prstGeom prst="rect">
            <a:avLst/>
          </a:prstGeom>
          <a:solidFill>
            <a:srgbClr val="E05A30">
              <a:alpha val="60000"/>
            </a:srgbClr>
          </a:solidFill>
          <a:ln w="12700">
            <a:solidFill>
              <a:srgbClr val="E05A30"/>
            </a:solidFill>
            <a:prstDash val="solid"/>
          </a:ln>
        </p:spPr>
      </p:sp>
      <p:sp>
        <p:nvSpPr>
          <p:cNvPr id="4" name="Text 2"/>
          <p:cNvSpPr/>
          <p:nvPr/>
        </p:nvSpPr>
        <p:spPr>
          <a:xfrm>
            <a:off x="548640" y="274320"/>
            <a:ext cx="8046720" cy="457200"/>
          </a:xfrm>
          <a:prstGeom prst="rect">
            <a:avLst/>
          </a:prstGeom>
          <a:noFill/>
          <a:ln/>
        </p:spPr>
        <p:txBody>
          <a:bodyPr wrap="square" rtlCol="0" anchor="ctr"/>
          <a:lstStyle/>
          <a:p>
            <a:pPr indent="0" marL="0">
              <a:buNone/>
            </a:pPr>
            <a:r>
              <a:rPr lang="en-US" sz="1200" b="1" spc="800" kern="0" dirty="0">
                <a:solidFill>
                  <a:srgbClr val="E05A30"/>
                </a:solidFill>
                <a:latin typeface="Calibri" pitchFamily="34" charset="0"/>
                <a:ea typeface="Calibri" pitchFamily="34" charset="-122"/>
                <a:cs typeface="Calibri" pitchFamily="34" charset="-120"/>
              </a:rPr>
              <a:t>A Visual Story</a:t>
            </a:r>
            <a:endParaRPr lang="en-US" sz="1200" dirty="0"/>
          </a:p>
        </p:txBody>
      </p:sp>
      <p:sp>
        <p:nvSpPr>
          <p:cNvPr id="5" name="Text 3"/>
          <p:cNvSpPr/>
          <p:nvPr/>
        </p:nvSpPr>
        <p:spPr>
          <a:xfrm>
            <a:off x="548640" y="1463040"/>
            <a:ext cx="8229600" cy="1371600"/>
          </a:xfrm>
          <a:prstGeom prst="rect">
            <a:avLst/>
          </a:prstGeom>
          <a:noFill/>
          <a:ln/>
        </p:spPr>
        <p:txBody>
          <a:bodyPr wrap="square"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The Journey of a Netflix Stream</a:t>
            </a:r>
            <a:endParaRPr lang="en-US" sz="4400" dirty="0"/>
          </a:p>
        </p:txBody>
      </p:sp>
      <p:sp>
        <p:nvSpPr>
          <p:cNvPr id="6" name="Text 4"/>
          <p:cNvSpPr/>
          <p:nvPr/>
        </p:nvSpPr>
        <p:spPr>
          <a:xfrm>
            <a:off x="548640" y="3017520"/>
            <a:ext cx="7680960" cy="914400"/>
          </a:xfrm>
          <a:prstGeom prst="rect">
            <a:avLst/>
          </a:prstGeom>
          <a:noFill/>
          <a:ln/>
        </p:spPr>
        <p:txBody>
          <a:bodyPr wrap="square" rtlCol="0" anchor="ctr"/>
          <a:lstStyle/>
          <a:p>
            <a:pPr indent="0" marL="0">
              <a:buNone/>
            </a:pPr>
            <a:r>
              <a:rPr lang="en-US" sz="1500" dirty="0">
                <a:solidFill>
                  <a:srgbClr val="888898"/>
                </a:solidFill>
                <a:latin typeface="Calibri" pitchFamily="34" charset="0"/>
                <a:ea typeface="Calibri" pitchFamily="34" charset="-122"/>
                <a:cs typeface="Calibri" pitchFamily="34" charset="-120"/>
              </a:rPr>
              <a:t>From the moment you tap play to the first pixel on your screen —</a:t>
            </a:r>
            <a:endParaRPr lang="en-US" sz="1500" dirty="0"/>
          </a:p>
          <a:p>
            <a:pPr indent="0" marL="0">
              <a:buNone/>
            </a:pPr>
            <a:r>
              <a:rPr lang="en-US" sz="1500" dirty="0">
                <a:solidFill>
                  <a:srgbClr val="888898"/>
                </a:solidFill>
                <a:latin typeface="Calibri" pitchFamily="34" charset="0"/>
                <a:ea typeface="Calibri" pitchFamily="34" charset="-122"/>
                <a:cs typeface="Calibri" pitchFamily="34" charset="-120"/>
              </a:rPr>
              <a:t>every hop, handshake, and handoff in under two seconds.</a:t>
            </a:r>
            <a:endParaRPr lang="en-US" sz="1500" dirty="0"/>
          </a:p>
        </p:txBody>
      </p:sp>
      <p:sp>
        <p:nvSpPr>
          <p:cNvPr id="7" name="Shape 5"/>
          <p:cNvSpPr/>
          <p:nvPr/>
        </p:nvSpPr>
        <p:spPr>
          <a:xfrm>
            <a:off x="548640" y="4160520"/>
            <a:ext cx="2560320" cy="685800"/>
          </a:xfrm>
          <a:prstGeom prst="rect">
            <a:avLst/>
          </a:prstGeom>
          <a:solidFill>
            <a:srgbClr val="12121A"/>
          </a:solidFill>
          <a:ln w="12700">
            <a:solidFill>
              <a:srgbClr val="E05A30"/>
            </a:solidFill>
            <a:prstDash val="solid"/>
          </a:ln>
        </p:spPr>
      </p:sp>
      <p:sp>
        <p:nvSpPr>
          <p:cNvPr id="8" name="Text 6"/>
          <p:cNvSpPr/>
          <p:nvPr/>
        </p:nvSpPr>
        <p:spPr>
          <a:xfrm>
            <a:off x="548640" y="4160520"/>
            <a:ext cx="1097280" cy="685800"/>
          </a:xfrm>
          <a:prstGeom prst="rect">
            <a:avLst/>
          </a:prstGeom>
          <a:noFill/>
          <a:ln/>
        </p:spPr>
        <p:txBody>
          <a:bodyPr wrap="square" rtlCol="0" anchor="ctr"/>
          <a:lstStyle/>
          <a:p>
            <a:pPr algn="ctr" indent="0" marL="0">
              <a:buNone/>
            </a:pPr>
            <a:r>
              <a:rPr lang="en-US" sz="2200" b="1" dirty="0">
                <a:solidFill>
                  <a:srgbClr val="E05A30"/>
                </a:solidFill>
                <a:latin typeface="Georgia" pitchFamily="34" charset="0"/>
                <a:ea typeface="Georgia" pitchFamily="34" charset="-122"/>
                <a:cs typeface="Georgia" pitchFamily="34" charset="-120"/>
              </a:rPr>
              <a:t>&lt;2s</a:t>
            </a:r>
            <a:endParaRPr lang="en-US" sz="2200" dirty="0"/>
          </a:p>
        </p:txBody>
      </p:sp>
      <p:sp>
        <p:nvSpPr>
          <p:cNvPr id="9" name="Text 7"/>
          <p:cNvSpPr/>
          <p:nvPr/>
        </p:nvSpPr>
        <p:spPr>
          <a:xfrm>
            <a:off x="1645920" y="4160520"/>
            <a:ext cx="1463040" cy="685800"/>
          </a:xfrm>
          <a:prstGeom prst="rect">
            <a:avLst/>
          </a:prstGeom>
          <a:noFill/>
          <a:ln/>
        </p:spPr>
        <p:txBody>
          <a:bodyPr wrap="square" rtlCol="0" anchor="ctr"/>
          <a:lstStyle/>
          <a:p>
            <a:pPr indent="0" marL="0">
              <a:buNone/>
            </a:pPr>
            <a:r>
              <a:rPr lang="en-US" sz="1000" dirty="0">
                <a:solidFill>
                  <a:srgbClr val="888898"/>
                </a:solidFill>
                <a:latin typeface="Calibri" pitchFamily="34" charset="0"/>
                <a:ea typeface="Calibri" pitchFamily="34" charset="-122"/>
                <a:cs typeface="Calibri" pitchFamily="34" charset="-120"/>
              </a:rPr>
              <a:t>tap to first frame</a:t>
            </a:r>
            <a:endParaRPr lang="en-US" sz="1000" dirty="0"/>
          </a:p>
        </p:txBody>
      </p:sp>
      <p:sp>
        <p:nvSpPr>
          <p:cNvPr id="10" name="Shape 8"/>
          <p:cNvSpPr/>
          <p:nvPr/>
        </p:nvSpPr>
        <p:spPr>
          <a:xfrm>
            <a:off x="3383280" y="4160520"/>
            <a:ext cx="2560320" cy="685800"/>
          </a:xfrm>
          <a:prstGeom prst="rect">
            <a:avLst/>
          </a:prstGeom>
          <a:solidFill>
            <a:srgbClr val="12121A"/>
          </a:solidFill>
          <a:ln w="12700">
            <a:solidFill>
              <a:srgbClr val="7F77DD"/>
            </a:solidFill>
            <a:prstDash val="solid"/>
          </a:ln>
        </p:spPr>
      </p:sp>
      <p:sp>
        <p:nvSpPr>
          <p:cNvPr id="11" name="Text 9"/>
          <p:cNvSpPr/>
          <p:nvPr/>
        </p:nvSpPr>
        <p:spPr>
          <a:xfrm>
            <a:off x="3383280" y="4160520"/>
            <a:ext cx="1097280" cy="685800"/>
          </a:xfrm>
          <a:prstGeom prst="rect">
            <a:avLst/>
          </a:prstGeom>
          <a:noFill/>
          <a:ln/>
        </p:spPr>
        <p:txBody>
          <a:bodyPr wrap="square" rtlCol="0" anchor="ctr"/>
          <a:lstStyle/>
          <a:p>
            <a:pPr algn="ctr" indent="0" marL="0">
              <a:buNone/>
            </a:pPr>
            <a:r>
              <a:rPr lang="en-US" sz="2200" b="1" dirty="0">
                <a:solidFill>
                  <a:srgbClr val="7F77DD"/>
                </a:solidFill>
                <a:latin typeface="Georgia" pitchFamily="34" charset="0"/>
                <a:ea typeface="Georgia" pitchFamily="34" charset="-122"/>
                <a:cs typeface="Georgia" pitchFamily="34" charset="-120"/>
              </a:rPr>
              <a:t>11</a:t>
            </a:r>
            <a:endParaRPr lang="en-US" sz="2200" dirty="0"/>
          </a:p>
        </p:txBody>
      </p:sp>
      <p:sp>
        <p:nvSpPr>
          <p:cNvPr id="12" name="Text 10"/>
          <p:cNvSpPr/>
          <p:nvPr/>
        </p:nvSpPr>
        <p:spPr>
          <a:xfrm>
            <a:off x="4480560" y="4160520"/>
            <a:ext cx="1463040" cy="685800"/>
          </a:xfrm>
          <a:prstGeom prst="rect">
            <a:avLst/>
          </a:prstGeom>
          <a:noFill/>
          <a:ln/>
        </p:spPr>
        <p:txBody>
          <a:bodyPr wrap="square" rtlCol="0" anchor="ctr"/>
          <a:lstStyle/>
          <a:p>
            <a:pPr indent="0" marL="0">
              <a:buNone/>
            </a:pPr>
            <a:r>
              <a:rPr lang="en-US" sz="1000" dirty="0">
                <a:solidFill>
                  <a:srgbClr val="888898"/>
                </a:solidFill>
                <a:latin typeface="Calibri" pitchFamily="34" charset="0"/>
                <a:ea typeface="Calibri" pitchFamily="34" charset="-122"/>
                <a:cs typeface="Calibri" pitchFamily="34" charset="-120"/>
              </a:rPr>
              <a:t>hops in the chain</a:t>
            </a:r>
            <a:endParaRPr lang="en-US" sz="1000" dirty="0"/>
          </a:p>
        </p:txBody>
      </p:sp>
      <p:sp>
        <p:nvSpPr>
          <p:cNvPr id="13" name="Shape 11"/>
          <p:cNvSpPr/>
          <p:nvPr/>
        </p:nvSpPr>
        <p:spPr>
          <a:xfrm>
            <a:off x="6217920" y="4160520"/>
            <a:ext cx="2560320" cy="685800"/>
          </a:xfrm>
          <a:prstGeom prst="rect">
            <a:avLst/>
          </a:prstGeom>
          <a:solidFill>
            <a:srgbClr val="12121A"/>
          </a:solidFill>
          <a:ln w="12700">
            <a:solidFill>
              <a:srgbClr val="1D9E75"/>
            </a:solidFill>
            <a:prstDash val="solid"/>
          </a:ln>
        </p:spPr>
      </p:sp>
      <p:sp>
        <p:nvSpPr>
          <p:cNvPr id="14" name="Text 12"/>
          <p:cNvSpPr/>
          <p:nvPr/>
        </p:nvSpPr>
        <p:spPr>
          <a:xfrm>
            <a:off x="6217920" y="4160520"/>
            <a:ext cx="1097280" cy="685800"/>
          </a:xfrm>
          <a:prstGeom prst="rect">
            <a:avLst/>
          </a:prstGeom>
          <a:noFill/>
          <a:ln/>
        </p:spPr>
        <p:txBody>
          <a:bodyPr wrap="square" rtlCol="0" anchor="ctr"/>
          <a:lstStyle/>
          <a:p>
            <a:pPr algn="ctr" indent="0" marL="0">
              <a:buNone/>
            </a:pPr>
            <a:r>
              <a:rPr lang="en-US" sz="2200" b="1" dirty="0">
                <a:solidFill>
                  <a:srgbClr val="1D9E75"/>
                </a:solidFill>
                <a:latin typeface="Georgia" pitchFamily="34" charset="0"/>
                <a:ea typeface="Georgia" pitchFamily="34" charset="-122"/>
                <a:cs typeface="Georgia" pitchFamily="34" charset="-120"/>
              </a:rPr>
              <a:t>200+</a:t>
            </a:r>
            <a:endParaRPr lang="en-US" sz="2200" dirty="0"/>
          </a:p>
        </p:txBody>
      </p:sp>
      <p:sp>
        <p:nvSpPr>
          <p:cNvPr id="15" name="Text 13"/>
          <p:cNvSpPr/>
          <p:nvPr/>
        </p:nvSpPr>
        <p:spPr>
          <a:xfrm>
            <a:off x="7315200" y="4160520"/>
            <a:ext cx="1463040" cy="685800"/>
          </a:xfrm>
          <a:prstGeom prst="rect">
            <a:avLst/>
          </a:prstGeom>
          <a:noFill/>
          <a:ln/>
        </p:spPr>
        <p:txBody>
          <a:bodyPr wrap="square" rtlCol="0" anchor="ctr"/>
          <a:lstStyle/>
          <a:p>
            <a:pPr indent="0" marL="0">
              <a:buNone/>
            </a:pPr>
            <a:r>
              <a:rPr lang="en-US" sz="1000" dirty="0">
                <a:solidFill>
                  <a:srgbClr val="888898"/>
                </a:solidFill>
                <a:latin typeface="Calibri" pitchFamily="34" charset="0"/>
                <a:ea typeface="Calibri" pitchFamily="34" charset="-122"/>
                <a:cs typeface="Calibri" pitchFamily="34" charset="-120"/>
              </a:rPr>
              <a:t>countries on CDN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05A30"/>
          </a:solidFill>
          <a:ln w="12700">
            <a:solidFill>
              <a:srgbClr val="E05A30"/>
            </a:solidFill>
            <a:prstDash val="solid"/>
          </a:ln>
        </p:spPr>
      </p:sp>
      <p:sp>
        <p:nvSpPr>
          <p:cNvPr id="3" name="Text 1"/>
          <p:cNvSpPr/>
          <p:nvPr/>
        </p:nvSpPr>
        <p:spPr>
          <a:xfrm>
            <a:off x="365760" y="1645920"/>
            <a:ext cx="8412480" cy="457200"/>
          </a:xfrm>
          <a:prstGeom prst="rect">
            <a:avLst/>
          </a:prstGeom>
          <a:noFill/>
          <a:ln/>
        </p:spPr>
        <p:txBody>
          <a:bodyPr wrap="square" rtlCol="0" anchor="ctr"/>
          <a:lstStyle/>
          <a:p>
            <a:pPr indent="0" marL="0">
              <a:buNone/>
            </a:pPr>
            <a:r>
              <a:rPr lang="en-US" sz="1300" spc="600" kern="0" dirty="0">
                <a:solidFill>
                  <a:srgbClr val="E05A30"/>
                </a:solidFill>
                <a:latin typeface="Calibri" pitchFamily="34" charset="0"/>
                <a:ea typeface="Calibri" pitchFamily="34" charset="-122"/>
                <a:cs typeface="Calibri" pitchFamily="34" charset="-120"/>
              </a:rPr>
              <a:t>Chapter 1</a:t>
            </a:r>
            <a:endParaRPr lang="en-US" sz="1300" dirty="0"/>
          </a:p>
        </p:txBody>
      </p:sp>
      <p:sp>
        <p:nvSpPr>
          <p:cNvPr id="4" name="Text 2"/>
          <p:cNvSpPr/>
          <p:nvPr/>
        </p:nvSpPr>
        <p:spPr>
          <a:xfrm>
            <a:off x="365760" y="2011680"/>
            <a:ext cx="8412480" cy="1097280"/>
          </a:xfrm>
          <a:prstGeom prst="rect">
            <a:avLst/>
          </a:prstGeom>
          <a:noFill/>
          <a:ln/>
        </p:spPr>
        <p:txBody>
          <a:bodyPr wrap="square"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The Request</a:t>
            </a:r>
            <a:endParaRPr lang="en-US" sz="4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05A30"/>
          </a:solidFill>
          <a:ln w="12700">
            <a:solidFill>
              <a:srgbClr val="E05A30"/>
            </a:solidFill>
            <a:prstDash val="solid"/>
          </a:ln>
        </p:spPr>
      </p:sp>
      <p:sp>
        <p:nvSpPr>
          <p:cNvPr id="3" name="Text 1"/>
          <p:cNvSpPr/>
          <p:nvPr/>
        </p:nvSpPr>
        <p:spPr>
          <a:xfrm>
            <a:off x="274320" y="320040"/>
            <a:ext cx="8412480" cy="320040"/>
          </a:xfrm>
          <a:prstGeom prst="rect">
            <a:avLst/>
          </a:prstGeom>
          <a:noFill/>
          <a:ln/>
        </p:spPr>
        <p:txBody>
          <a:bodyPr wrap="square" rtlCol="0" anchor="ctr"/>
          <a:lstStyle/>
          <a:p>
            <a:pPr indent="0" marL="0">
              <a:buNone/>
            </a:pPr>
            <a:r>
              <a:rPr lang="en-US" sz="1100" b="1" spc="400" kern="0" dirty="0">
                <a:solidFill>
                  <a:srgbClr val="E05A30"/>
                </a:solidFill>
                <a:latin typeface="Calibri" pitchFamily="34" charset="0"/>
                <a:ea typeface="Calibri" pitchFamily="34" charset="-122"/>
                <a:cs typeface="Calibri" pitchFamily="34" charset="-120"/>
              </a:rPr>
              <a:t>01 — Your Device</a:t>
            </a:r>
            <a:endParaRPr lang="en-US" sz="1100" dirty="0"/>
          </a:p>
        </p:txBody>
      </p:sp>
      <p:sp>
        <p:nvSpPr>
          <p:cNvPr id="4" name="Text 2"/>
          <p:cNvSpPr/>
          <p:nvPr/>
        </p:nvSpPr>
        <p:spPr>
          <a:xfrm>
            <a:off x="274320" y="640080"/>
            <a:ext cx="8595360" cy="7315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You tap play</a:t>
            </a:r>
            <a:endParaRPr lang="en-US" sz="3600" dirty="0"/>
          </a:p>
        </p:txBody>
      </p:sp>
      <p:sp>
        <p:nvSpPr>
          <p:cNvPr id="5" name="Shape 3"/>
          <p:cNvSpPr/>
          <p:nvPr/>
        </p:nvSpPr>
        <p:spPr>
          <a:xfrm>
            <a:off x="274320" y="1417320"/>
            <a:ext cx="8595360" cy="10973"/>
          </a:xfrm>
          <a:prstGeom prst="rect">
            <a:avLst/>
          </a:prstGeom>
          <a:solidFill>
            <a:srgbClr val="E05A30">
              <a:alpha val="40000"/>
            </a:srgbClr>
          </a:solidFill>
          <a:ln w="12700">
            <a:solidFill>
              <a:srgbClr val="E05A30"/>
            </a:solidFill>
            <a:prstDash val="solid"/>
          </a:ln>
        </p:spPr>
      </p:sp>
      <p:sp>
        <p:nvSpPr>
          <p:cNvPr id="6" name="Text 4"/>
          <p:cNvSpPr/>
          <p:nvPr/>
        </p:nvSpPr>
        <p:spPr>
          <a:xfrm>
            <a:off x="274320" y="1554480"/>
            <a:ext cx="5943600" cy="2377440"/>
          </a:xfrm>
          <a:prstGeom prst="rect">
            <a:avLst/>
          </a:prstGeom>
          <a:noFill/>
          <a:ln/>
        </p:spPr>
        <p:txBody>
          <a:bodyPr wrap="square" rtlCol="0" anchor="t"/>
          <a:lstStyle/>
          <a:p>
            <a:pPr indent="0" marL="0">
              <a:buNone/>
            </a:pPr>
            <a:r>
              <a:rPr lang="en-US" sz="1500" dirty="0">
                <a:solidFill>
                  <a:srgbClr val="E8E8F0"/>
                </a:solidFill>
                <a:latin typeface="Calibri" pitchFamily="34" charset="0"/>
                <a:ea typeface="Calibri" pitchFamily="34" charset="-122"/>
                <a:cs typeface="Calibri" pitchFamily="34" charset="-120"/>
              </a:rPr>
              <a:t>The moment you press play, the Netflix app constructs an HTTPS request carrying your session token and account credentials. This request travels over TLS 1.3, encrypted end-to-end, and is routed toward the nearest API gateway — often reaching it in single-digit milliseconds.</a:t>
            </a:r>
            <a:endParaRPr lang="en-US" sz="1500" dirty="0"/>
          </a:p>
        </p:txBody>
      </p:sp>
      <p:sp>
        <p:nvSpPr>
          <p:cNvPr id="7" name="Shape 5"/>
          <p:cNvSpPr/>
          <p:nvPr/>
        </p:nvSpPr>
        <p:spPr>
          <a:xfrm>
            <a:off x="274320" y="4206240"/>
            <a:ext cx="2240280" cy="347472"/>
          </a:xfrm>
          <a:prstGeom prst="rect">
            <a:avLst/>
          </a:prstGeom>
          <a:solidFill>
            <a:srgbClr val="E05A30">
              <a:alpha val="20000"/>
            </a:srgbClr>
          </a:solidFill>
          <a:ln w="12700">
            <a:solidFill>
              <a:srgbClr val="E05A30"/>
            </a:solidFill>
            <a:prstDash val="solid"/>
          </a:ln>
        </p:spPr>
      </p:sp>
      <p:sp>
        <p:nvSpPr>
          <p:cNvPr id="8" name="Text 6"/>
          <p:cNvSpPr/>
          <p:nvPr/>
        </p:nvSpPr>
        <p:spPr>
          <a:xfrm>
            <a:off x="274320" y="4206240"/>
            <a:ext cx="2240280" cy="347472"/>
          </a:xfrm>
          <a:prstGeom prst="rect">
            <a:avLst/>
          </a:prstGeom>
          <a:noFill/>
          <a:ln/>
        </p:spPr>
        <p:txBody>
          <a:bodyPr wrap="square" rtlCol="0" anchor="ctr"/>
          <a:lstStyle/>
          <a:p>
            <a:pPr algn="ctr" indent="0" marL="0">
              <a:buNone/>
            </a:pPr>
            <a:r>
              <a:rPr lang="en-US" sz="1100" b="1" dirty="0">
                <a:solidFill>
                  <a:srgbClr val="E05A30"/>
                </a:solidFill>
                <a:latin typeface="Calibri" pitchFamily="34" charset="0"/>
                <a:ea typeface="Calibri" pitchFamily="34" charset="-122"/>
                <a:cs typeface="Calibri" pitchFamily="34" charset="-120"/>
              </a:rPr>
              <a:t>HTTPS / TLS 1.3</a:t>
            </a:r>
            <a:endParaRPr lang="en-US" sz="1100" dirty="0"/>
          </a:p>
        </p:txBody>
      </p:sp>
      <p:sp>
        <p:nvSpPr>
          <p:cNvPr id="10" name="Shape 7"/>
          <p:cNvSpPr/>
          <p:nvPr/>
        </p:nvSpPr>
        <p:spPr>
          <a:xfrm>
            <a:off x="6492240" y="914400"/>
            <a:ext cx="2286000" cy="1371600"/>
          </a:xfrm>
          <a:prstGeom prst="rect">
            <a:avLst/>
          </a:prstGeom>
          <a:solidFill>
            <a:srgbClr val="12121A"/>
          </a:solidFill>
          <a:ln w="12700">
            <a:solidFill>
              <a:srgbClr val="E05A30"/>
            </a:solidFill>
            <a:prstDash val="solid"/>
          </a:ln>
        </p:spPr>
      </p:sp>
      <p:sp>
        <p:nvSpPr>
          <p:cNvPr id="11" name="Text 8"/>
          <p:cNvSpPr/>
          <p:nvPr/>
        </p:nvSpPr>
        <p:spPr>
          <a:xfrm>
            <a:off x="6492240" y="914400"/>
            <a:ext cx="2286000" cy="457200"/>
          </a:xfrm>
          <a:prstGeom prst="rect">
            <a:avLst/>
          </a:prstGeom>
          <a:noFill/>
          <a:ln/>
        </p:spPr>
        <p:txBody>
          <a:bodyPr wrap="square" rtlCol="0" anchor="ctr"/>
          <a:lstStyle/>
          <a:p>
            <a:pPr algn="ctr" indent="0" marL="0">
              <a:buNone/>
            </a:pPr>
            <a:r>
              <a:rPr lang="en-US" sz="1100" b="1" dirty="0">
                <a:solidFill>
                  <a:srgbClr val="F0997B"/>
                </a:solidFill>
                <a:latin typeface="Calibri" pitchFamily="34" charset="0"/>
                <a:ea typeface="Calibri" pitchFamily="34" charset="-122"/>
                <a:cs typeface="Calibri" pitchFamily="34" charset="-120"/>
              </a:rPr>
              <a:t>Device</a:t>
            </a:r>
            <a:endParaRPr lang="en-US" sz="1100" dirty="0"/>
          </a:p>
        </p:txBody>
      </p:sp>
      <p:sp>
        <p:nvSpPr>
          <p:cNvPr id="12" name="Text 9"/>
          <p:cNvSpPr/>
          <p:nvPr/>
        </p:nvSpPr>
        <p:spPr>
          <a:xfrm>
            <a:off x="6492240" y="1325880"/>
            <a:ext cx="2286000" cy="640080"/>
          </a:xfrm>
          <a:prstGeom prst="rect">
            <a:avLst/>
          </a:prstGeom>
          <a:noFill/>
          <a:ln/>
        </p:spPr>
        <p:txBody>
          <a:bodyPr wrap="square" rtlCol="0" anchor="ctr"/>
          <a:lstStyle/>
          <a:p>
            <a:pPr algn="ctr" indent="0" marL="0">
              <a:buNone/>
            </a:pPr>
            <a:r>
              <a:rPr lang="en-US" sz="1000" dirty="0">
                <a:solidFill>
                  <a:srgbClr val="888898"/>
                </a:solidFill>
                <a:latin typeface="Calibri" pitchFamily="34" charset="0"/>
                <a:ea typeface="Calibri" pitchFamily="34" charset="-122"/>
                <a:cs typeface="Calibri" pitchFamily="34" charset="-120"/>
              </a:rPr>
              <a:t>session token</a:t>
            </a:r>
            <a:endParaRPr lang="en-US" sz="1000" dirty="0"/>
          </a:p>
          <a:p>
            <a:pPr algn="ctr" indent="0" marL="0">
              <a:buNone/>
            </a:pPr>
            <a:r>
              <a:rPr lang="en-US" sz="1000" dirty="0">
                <a:solidFill>
                  <a:srgbClr val="888898"/>
                </a:solidFill>
                <a:latin typeface="Calibri" pitchFamily="34" charset="0"/>
                <a:ea typeface="Calibri" pitchFamily="34" charset="-122"/>
                <a:cs typeface="Calibri" pitchFamily="34" charset="-120"/>
              </a:rPr>
              <a:t>+ credentials</a:t>
            </a:r>
            <a:endParaRPr lang="en-US" sz="1000" dirty="0"/>
          </a:p>
        </p:txBody>
      </p:sp>
      <p:sp>
        <p:nvSpPr>
          <p:cNvPr id="13" name="Shape 10"/>
          <p:cNvSpPr/>
          <p:nvPr/>
        </p:nvSpPr>
        <p:spPr>
          <a:xfrm>
            <a:off x="6492240" y="2743200"/>
            <a:ext cx="2286000" cy="1371600"/>
          </a:xfrm>
          <a:prstGeom prst="rect">
            <a:avLst/>
          </a:prstGeom>
          <a:solidFill>
            <a:srgbClr val="12121A"/>
          </a:solidFill>
          <a:ln w="12700">
            <a:solidFill>
              <a:srgbClr val="888780"/>
            </a:solidFill>
            <a:prstDash val="solid"/>
          </a:ln>
        </p:spPr>
      </p:sp>
      <p:sp>
        <p:nvSpPr>
          <p:cNvPr id="14" name="Text 11"/>
          <p:cNvSpPr/>
          <p:nvPr/>
        </p:nvSpPr>
        <p:spPr>
          <a:xfrm>
            <a:off x="6492240" y="2743200"/>
            <a:ext cx="2286000" cy="457200"/>
          </a:xfrm>
          <a:prstGeom prst="rect">
            <a:avLst/>
          </a:prstGeom>
          <a:noFill/>
          <a:ln/>
        </p:spPr>
        <p:txBody>
          <a:bodyPr wrap="square" rtlCol="0" anchor="ctr"/>
          <a:lstStyle/>
          <a:p>
            <a:pPr algn="ctr" indent="0" marL="0">
              <a:buNone/>
            </a:pPr>
            <a:r>
              <a:rPr lang="en-US" sz="1100" b="1" dirty="0">
                <a:solidFill>
                  <a:srgbClr val="888898"/>
                </a:solidFill>
                <a:latin typeface="Calibri" pitchFamily="34" charset="0"/>
                <a:ea typeface="Calibri" pitchFamily="34" charset="-122"/>
                <a:cs typeface="Calibri" pitchFamily="34" charset="-120"/>
              </a:rPr>
              <a:t>API Gateway</a:t>
            </a:r>
            <a:endParaRPr lang="en-US" sz="1100" dirty="0"/>
          </a:p>
        </p:txBody>
      </p:sp>
      <p:sp>
        <p:nvSpPr>
          <p:cNvPr id="15" name="Text 12"/>
          <p:cNvSpPr/>
          <p:nvPr/>
        </p:nvSpPr>
        <p:spPr>
          <a:xfrm>
            <a:off x="6492240" y="3154680"/>
            <a:ext cx="2286000" cy="640080"/>
          </a:xfrm>
          <a:prstGeom prst="rect">
            <a:avLst/>
          </a:prstGeom>
          <a:noFill/>
          <a:ln/>
        </p:spPr>
        <p:txBody>
          <a:bodyPr wrap="square" rtlCol="0" anchor="ctr"/>
          <a:lstStyle/>
          <a:p>
            <a:pPr algn="ctr" indent="0" marL="0">
              <a:buNone/>
            </a:pPr>
            <a:r>
              <a:rPr lang="en-US" sz="1000" dirty="0">
                <a:solidFill>
                  <a:srgbClr val="888898"/>
                </a:solidFill>
                <a:latin typeface="Calibri" pitchFamily="34" charset="0"/>
                <a:ea typeface="Calibri" pitchFamily="34" charset="-122"/>
                <a:cs typeface="Calibri" pitchFamily="34" charset="-120"/>
              </a:rPr>
              <a:t>Netflix edge</a:t>
            </a:r>
            <a:endParaRPr lang="en-US" sz="1000" dirty="0"/>
          </a:p>
          <a:p>
            <a:pPr algn="ctr" indent="0" marL="0">
              <a:buNone/>
            </a:pPr>
            <a:r>
              <a:rPr lang="en-US" sz="1000" dirty="0">
                <a:solidFill>
                  <a:srgbClr val="888898"/>
                </a:solidFill>
                <a:latin typeface="Calibri" pitchFamily="34" charset="0"/>
                <a:ea typeface="Calibri" pitchFamily="34" charset="-122"/>
                <a:cs typeface="Calibri" pitchFamily="34" charset="-120"/>
              </a:rPr>
              <a:t>infrastructure</a:t>
            </a:r>
            <a:endParaRPr lang="en-US" sz="1000" dirty="0"/>
          </a:p>
        </p:txBody>
      </p:sp>
      <p:sp>
        <p:nvSpPr>
          <p:cNvPr id="16" name="Shape 13"/>
          <p:cNvSpPr/>
          <p:nvPr/>
        </p:nvSpPr>
        <p:spPr>
          <a:xfrm>
            <a:off x="7635240" y="2286000"/>
            <a:ext cx="0" cy="457200"/>
          </a:xfrm>
          <a:prstGeom prst="line">
            <a:avLst/>
          </a:prstGeom>
          <a:noFill/>
          <a:ln w="19050">
            <a:solidFill>
              <a:srgbClr val="E05A30"/>
            </a:solidFill>
            <a:prstDash val="sysDot"/>
          </a:ln>
        </p:spPr>
      </p:sp>
      <p:sp>
        <p:nvSpPr>
          <p:cNvPr id="17" name="Text 14"/>
          <p:cNvSpPr/>
          <p:nvPr/>
        </p:nvSpPr>
        <p:spPr>
          <a:xfrm>
            <a:off x="7644384" y="2377440"/>
            <a:ext cx="914400" cy="274320"/>
          </a:xfrm>
          <a:prstGeom prst="rect">
            <a:avLst/>
          </a:prstGeom>
          <a:noFill/>
          <a:ln/>
        </p:spPr>
        <p:txBody>
          <a:bodyPr wrap="square" rtlCol="0" anchor="ctr"/>
          <a:lstStyle/>
          <a:p>
            <a:pPr indent="0" marL="0">
              <a:buNone/>
            </a:pPr>
            <a:r>
              <a:rPr lang="en-US" sz="900" dirty="0">
                <a:solidFill>
                  <a:srgbClr val="E05A30"/>
                </a:solidFill>
                <a:latin typeface="Calibri" pitchFamily="34" charset="0"/>
                <a:ea typeface="Calibri" pitchFamily="34" charset="-122"/>
                <a:cs typeface="Calibri" pitchFamily="34" charset="-120"/>
              </a:rPr>
              <a:t>HTTPS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05A30"/>
          </a:solidFill>
          <a:ln w="12700">
            <a:solidFill>
              <a:srgbClr val="E05A30"/>
            </a:solidFill>
            <a:prstDash val="solid"/>
          </a:ln>
        </p:spPr>
      </p:sp>
      <p:sp>
        <p:nvSpPr>
          <p:cNvPr id="3" name="Text 1"/>
          <p:cNvSpPr/>
          <p:nvPr/>
        </p:nvSpPr>
        <p:spPr>
          <a:xfrm>
            <a:off x="274320" y="320040"/>
            <a:ext cx="8412480" cy="320040"/>
          </a:xfrm>
          <a:prstGeom prst="rect">
            <a:avLst/>
          </a:prstGeom>
          <a:noFill/>
          <a:ln/>
        </p:spPr>
        <p:txBody>
          <a:bodyPr wrap="square" rtlCol="0" anchor="ctr"/>
          <a:lstStyle/>
          <a:p>
            <a:pPr indent="0" marL="0">
              <a:buNone/>
            </a:pPr>
            <a:r>
              <a:rPr lang="en-US" sz="1100" b="1" spc="400" kern="0" dirty="0">
                <a:solidFill>
                  <a:srgbClr val="E05A30"/>
                </a:solidFill>
                <a:latin typeface="Calibri" pitchFamily="34" charset="0"/>
                <a:ea typeface="Calibri" pitchFamily="34" charset="-122"/>
                <a:cs typeface="Calibri" pitchFamily="34" charset="-120"/>
              </a:rPr>
              <a:t>02 — API Gateway</a:t>
            </a:r>
            <a:endParaRPr lang="en-US" sz="1100" dirty="0"/>
          </a:p>
        </p:txBody>
      </p:sp>
      <p:sp>
        <p:nvSpPr>
          <p:cNvPr id="4" name="Text 2"/>
          <p:cNvSpPr/>
          <p:nvPr/>
        </p:nvSpPr>
        <p:spPr>
          <a:xfrm>
            <a:off x="274320" y="640080"/>
            <a:ext cx="8595360" cy="7315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The front door</a:t>
            </a:r>
            <a:endParaRPr lang="en-US" sz="3600" dirty="0"/>
          </a:p>
        </p:txBody>
      </p:sp>
      <p:sp>
        <p:nvSpPr>
          <p:cNvPr id="5" name="Shape 3"/>
          <p:cNvSpPr/>
          <p:nvPr/>
        </p:nvSpPr>
        <p:spPr>
          <a:xfrm>
            <a:off x="274320" y="1417320"/>
            <a:ext cx="8595360" cy="10973"/>
          </a:xfrm>
          <a:prstGeom prst="rect">
            <a:avLst/>
          </a:prstGeom>
          <a:solidFill>
            <a:srgbClr val="E05A30">
              <a:alpha val="40000"/>
            </a:srgbClr>
          </a:solidFill>
          <a:ln w="12700">
            <a:solidFill>
              <a:srgbClr val="E05A30"/>
            </a:solidFill>
            <a:prstDash val="solid"/>
          </a:ln>
        </p:spPr>
      </p:sp>
      <p:sp>
        <p:nvSpPr>
          <p:cNvPr id="6" name="Text 4"/>
          <p:cNvSpPr/>
          <p:nvPr/>
        </p:nvSpPr>
        <p:spPr>
          <a:xfrm>
            <a:off x="274320" y="1554480"/>
            <a:ext cx="5943600" cy="2377440"/>
          </a:xfrm>
          <a:prstGeom prst="rect">
            <a:avLst/>
          </a:prstGeom>
          <a:noFill/>
          <a:ln/>
        </p:spPr>
        <p:txBody>
          <a:bodyPr wrap="square" rtlCol="0" anchor="t"/>
          <a:lstStyle/>
          <a:p>
            <a:pPr indent="0" marL="0">
              <a:buNone/>
            </a:pPr>
            <a:r>
              <a:rPr lang="en-US" sz="1500" dirty="0">
                <a:solidFill>
                  <a:srgbClr val="E8E8F0"/>
                </a:solidFill>
                <a:latin typeface="Calibri" pitchFamily="34" charset="0"/>
                <a:ea typeface="Calibri" pitchFamily="34" charset="-122"/>
                <a:cs typeface="Calibri" pitchFamily="34" charset="-120"/>
              </a:rPr>
              <a:t>Netflix's API gateway receives millions of simultaneous requests. It authenticates the incoming call, applies rate limiting, and routes the request to the correct internal microservice. This layer adds almost no latency — often completing in under 5 milliseconds — but it's the gatekeeper for everything that follows.</a:t>
            </a:r>
            <a:endParaRPr lang="en-US" sz="1500" dirty="0"/>
          </a:p>
        </p:txBody>
      </p:sp>
      <p:sp>
        <p:nvSpPr>
          <p:cNvPr id="7" name="Shape 5"/>
          <p:cNvSpPr/>
          <p:nvPr/>
        </p:nvSpPr>
        <p:spPr>
          <a:xfrm>
            <a:off x="274320" y="4206240"/>
            <a:ext cx="2596896" cy="347472"/>
          </a:xfrm>
          <a:prstGeom prst="rect">
            <a:avLst/>
          </a:prstGeom>
          <a:solidFill>
            <a:srgbClr val="E05A30">
              <a:alpha val="20000"/>
            </a:srgbClr>
          </a:solidFill>
          <a:ln w="12700">
            <a:solidFill>
              <a:srgbClr val="E05A30"/>
            </a:solidFill>
            <a:prstDash val="solid"/>
          </a:ln>
        </p:spPr>
      </p:sp>
      <p:sp>
        <p:nvSpPr>
          <p:cNvPr id="8" name="Text 6"/>
          <p:cNvSpPr/>
          <p:nvPr/>
        </p:nvSpPr>
        <p:spPr>
          <a:xfrm>
            <a:off x="274320" y="4206240"/>
            <a:ext cx="2596896" cy="347472"/>
          </a:xfrm>
          <a:prstGeom prst="rect">
            <a:avLst/>
          </a:prstGeom>
          <a:noFill/>
          <a:ln/>
        </p:spPr>
        <p:txBody>
          <a:bodyPr wrap="square" rtlCol="0" anchor="ctr"/>
          <a:lstStyle/>
          <a:p>
            <a:pPr algn="ctr" indent="0" marL="0">
              <a:buNone/>
            </a:pPr>
            <a:r>
              <a:rPr lang="en-US" sz="1100" b="1" dirty="0">
                <a:solidFill>
                  <a:srgbClr val="E05A30"/>
                </a:solidFill>
                <a:latin typeface="Calibri" pitchFamily="34" charset="0"/>
                <a:ea typeface="Calibri" pitchFamily="34" charset="-122"/>
                <a:cs typeface="Calibri" pitchFamily="34" charset="-120"/>
              </a:rPr>
              <a:t>AWS / Netflix edge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F9F27"/>
          </a:solidFill>
          <a:ln w="12700">
            <a:solidFill>
              <a:srgbClr val="EF9F27"/>
            </a:solidFill>
            <a:prstDash val="solid"/>
          </a:ln>
        </p:spPr>
      </p:sp>
      <p:sp>
        <p:nvSpPr>
          <p:cNvPr id="3" name="Text 1"/>
          <p:cNvSpPr/>
          <p:nvPr/>
        </p:nvSpPr>
        <p:spPr>
          <a:xfrm>
            <a:off x="365760" y="1645920"/>
            <a:ext cx="8412480" cy="457200"/>
          </a:xfrm>
          <a:prstGeom prst="rect">
            <a:avLst/>
          </a:prstGeom>
          <a:noFill/>
          <a:ln/>
        </p:spPr>
        <p:txBody>
          <a:bodyPr wrap="square" rtlCol="0" anchor="ctr"/>
          <a:lstStyle/>
          <a:p>
            <a:pPr indent="0" marL="0">
              <a:buNone/>
            </a:pPr>
            <a:r>
              <a:rPr lang="en-US" sz="1300" spc="600" kern="0" dirty="0">
                <a:solidFill>
                  <a:srgbClr val="EF9F27"/>
                </a:solidFill>
                <a:latin typeface="Calibri" pitchFamily="34" charset="0"/>
                <a:ea typeface="Calibri" pitchFamily="34" charset="-122"/>
                <a:cs typeface="Calibri" pitchFamily="34" charset="-120"/>
              </a:rPr>
              <a:t>Chapter 2</a:t>
            </a:r>
            <a:endParaRPr lang="en-US" sz="1300" dirty="0"/>
          </a:p>
        </p:txBody>
      </p:sp>
      <p:sp>
        <p:nvSpPr>
          <p:cNvPr id="4" name="Text 2"/>
          <p:cNvSpPr/>
          <p:nvPr/>
        </p:nvSpPr>
        <p:spPr>
          <a:xfrm>
            <a:off x="365760" y="2011680"/>
            <a:ext cx="8412480" cy="1097280"/>
          </a:xfrm>
          <a:prstGeom prst="rect">
            <a:avLst/>
          </a:prstGeom>
          <a:noFill/>
          <a:ln/>
        </p:spPr>
        <p:txBody>
          <a:bodyPr wrap="square"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Identity &amp; Rights</a:t>
            </a:r>
            <a:endParaRPr lang="en-US" sz="4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F9F27"/>
          </a:solidFill>
          <a:ln w="12700">
            <a:solidFill>
              <a:srgbClr val="EF9F27"/>
            </a:solidFill>
            <a:prstDash val="solid"/>
          </a:ln>
        </p:spPr>
      </p:sp>
      <p:sp>
        <p:nvSpPr>
          <p:cNvPr id="3" name="Text 1"/>
          <p:cNvSpPr/>
          <p:nvPr/>
        </p:nvSpPr>
        <p:spPr>
          <a:xfrm>
            <a:off x="274320" y="320040"/>
            <a:ext cx="8412480" cy="320040"/>
          </a:xfrm>
          <a:prstGeom prst="rect">
            <a:avLst/>
          </a:prstGeom>
          <a:noFill/>
          <a:ln/>
        </p:spPr>
        <p:txBody>
          <a:bodyPr wrap="square" rtlCol="0" anchor="ctr"/>
          <a:lstStyle/>
          <a:p>
            <a:pPr indent="0" marL="0">
              <a:buNone/>
            </a:pPr>
            <a:r>
              <a:rPr lang="en-US" sz="1100" b="1" spc="400" kern="0" dirty="0">
                <a:solidFill>
                  <a:srgbClr val="EF9F27"/>
                </a:solidFill>
                <a:latin typeface="Calibri" pitchFamily="34" charset="0"/>
                <a:ea typeface="Calibri" pitchFamily="34" charset="-122"/>
                <a:cs typeface="Calibri" pitchFamily="34" charset="-120"/>
              </a:rPr>
              <a:t>03 — Auth Service</a:t>
            </a:r>
            <a:endParaRPr lang="en-US" sz="1100" dirty="0"/>
          </a:p>
        </p:txBody>
      </p:sp>
      <p:sp>
        <p:nvSpPr>
          <p:cNvPr id="4" name="Text 2"/>
          <p:cNvSpPr/>
          <p:nvPr/>
        </p:nvSpPr>
        <p:spPr>
          <a:xfrm>
            <a:off x="274320" y="640080"/>
            <a:ext cx="8595360" cy="7315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Who are you?</a:t>
            </a:r>
            <a:endParaRPr lang="en-US" sz="3600" dirty="0"/>
          </a:p>
        </p:txBody>
      </p:sp>
      <p:sp>
        <p:nvSpPr>
          <p:cNvPr id="5" name="Shape 3"/>
          <p:cNvSpPr/>
          <p:nvPr/>
        </p:nvSpPr>
        <p:spPr>
          <a:xfrm>
            <a:off x="274320" y="1417320"/>
            <a:ext cx="8595360" cy="10973"/>
          </a:xfrm>
          <a:prstGeom prst="rect">
            <a:avLst/>
          </a:prstGeom>
          <a:solidFill>
            <a:srgbClr val="EF9F27">
              <a:alpha val="40000"/>
            </a:srgbClr>
          </a:solidFill>
          <a:ln w="12700">
            <a:solidFill>
              <a:srgbClr val="EF9F27"/>
            </a:solidFill>
            <a:prstDash val="solid"/>
          </a:ln>
        </p:spPr>
      </p:sp>
      <p:sp>
        <p:nvSpPr>
          <p:cNvPr id="6" name="Text 4"/>
          <p:cNvSpPr/>
          <p:nvPr/>
        </p:nvSpPr>
        <p:spPr>
          <a:xfrm>
            <a:off x="274320" y="1554480"/>
            <a:ext cx="5943600" cy="2377440"/>
          </a:xfrm>
          <a:prstGeom prst="rect">
            <a:avLst/>
          </a:prstGeom>
          <a:noFill/>
          <a:ln/>
        </p:spPr>
        <p:txBody>
          <a:bodyPr wrap="square" rtlCol="0" anchor="t"/>
          <a:lstStyle/>
          <a:p>
            <a:pPr indent="0" marL="0">
              <a:buNone/>
            </a:pPr>
            <a:r>
              <a:rPr lang="en-US" sz="1500" dirty="0">
                <a:solidFill>
                  <a:srgbClr val="E8E8F0"/>
                </a:solidFill>
                <a:latin typeface="Calibri" pitchFamily="34" charset="0"/>
                <a:ea typeface="Calibri" pitchFamily="34" charset="-122"/>
                <a:cs typeface="Calibri" pitchFamily="34" charset="-120"/>
              </a:rPr>
              <a:t>Your session token is validated against Netflix's identity service. This check confirms your subscription tier, account status, and device profile. It also determines what content you're allowed to access — regional availability, plan restrictions, and device limits are all enforced here, before a single frame is sent.</a:t>
            </a:r>
            <a:endParaRPr lang="en-US" sz="1500" dirty="0"/>
          </a:p>
        </p:txBody>
      </p:sp>
      <p:sp>
        <p:nvSpPr>
          <p:cNvPr id="7" name="Shape 5"/>
          <p:cNvSpPr/>
          <p:nvPr/>
        </p:nvSpPr>
        <p:spPr>
          <a:xfrm>
            <a:off x="274320" y="4206240"/>
            <a:ext cx="2240280" cy="347472"/>
          </a:xfrm>
          <a:prstGeom prst="rect">
            <a:avLst/>
          </a:prstGeom>
          <a:solidFill>
            <a:srgbClr val="EF9F27">
              <a:alpha val="20000"/>
            </a:srgbClr>
          </a:solidFill>
          <a:ln w="12700">
            <a:solidFill>
              <a:srgbClr val="EF9F27"/>
            </a:solidFill>
            <a:prstDash val="solid"/>
          </a:ln>
        </p:spPr>
      </p:sp>
      <p:sp>
        <p:nvSpPr>
          <p:cNvPr id="8" name="Text 6"/>
          <p:cNvSpPr/>
          <p:nvPr/>
        </p:nvSpPr>
        <p:spPr>
          <a:xfrm>
            <a:off x="274320" y="4206240"/>
            <a:ext cx="2240280" cy="347472"/>
          </a:xfrm>
          <a:prstGeom prst="rect">
            <a:avLst/>
          </a:prstGeom>
          <a:noFill/>
          <a:ln/>
        </p:spPr>
        <p:txBody>
          <a:bodyPr wrap="square" rtlCol="0" anchor="ctr"/>
          <a:lstStyle/>
          <a:p>
            <a:pPr algn="ctr" indent="0" marL="0">
              <a:buNone/>
            </a:pPr>
            <a:r>
              <a:rPr lang="en-US" sz="1100" b="1" dirty="0">
                <a:solidFill>
                  <a:srgbClr val="EF9F27"/>
                </a:solidFill>
                <a:latin typeface="Calibri" pitchFamily="34" charset="0"/>
                <a:ea typeface="Calibri" pitchFamily="34" charset="-122"/>
                <a:cs typeface="Calibri" pitchFamily="34" charset="-120"/>
              </a:rPr>
              <a:t>OAuth 2.0 / JWT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F9F27"/>
          </a:solidFill>
          <a:ln w="12700">
            <a:solidFill>
              <a:srgbClr val="EF9F27"/>
            </a:solidFill>
            <a:prstDash val="solid"/>
          </a:ln>
        </p:spPr>
      </p:sp>
      <p:sp>
        <p:nvSpPr>
          <p:cNvPr id="3" name="Text 1"/>
          <p:cNvSpPr/>
          <p:nvPr/>
        </p:nvSpPr>
        <p:spPr>
          <a:xfrm>
            <a:off x="274320" y="320040"/>
            <a:ext cx="8412480" cy="320040"/>
          </a:xfrm>
          <a:prstGeom prst="rect">
            <a:avLst/>
          </a:prstGeom>
          <a:noFill/>
          <a:ln/>
        </p:spPr>
        <p:txBody>
          <a:bodyPr wrap="square" rtlCol="0" anchor="ctr"/>
          <a:lstStyle/>
          <a:p>
            <a:pPr indent="0" marL="0">
              <a:buNone/>
            </a:pPr>
            <a:r>
              <a:rPr lang="en-US" sz="1100" b="1" spc="400" kern="0" dirty="0">
                <a:solidFill>
                  <a:srgbClr val="EF9F27"/>
                </a:solidFill>
                <a:latin typeface="Calibri" pitchFamily="34" charset="0"/>
                <a:ea typeface="Calibri" pitchFamily="34" charset="-122"/>
                <a:cs typeface="Calibri" pitchFamily="34" charset="-120"/>
              </a:rPr>
              <a:t>04 — DRM License</a:t>
            </a:r>
            <a:endParaRPr lang="en-US" sz="1100" dirty="0"/>
          </a:p>
        </p:txBody>
      </p:sp>
      <p:sp>
        <p:nvSpPr>
          <p:cNvPr id="4" name="Text 2"/>
          <p:cNvSpPr/>
          <p:nvPr/>
        </p:nvSpPr>
        <p:spPr>
          <a:xfrm>
            <a:off x="274320" y="640080"/>
            <a:ext cx="8595360" cy="7315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The decryption key</a:t>
            </a:r>
            <a:endParaRPr lang="en-US" sz="3600" dirty="0"/>
          </a:p>
        </p:txBody>
      </p:sp>
      <p:sp>
        <p:nvSpPr>
          <p:cNvPr id="5" name="Shape 3"/>
          <p:cNvSpPr/>
          <p:nvPr/>
        </p:nvSpPr>
        <p:spPr>
          <a:xfrm>
            <a:off x="274320" y="1417320"/>
            <a:ext cx="8595360" cy="10973"/>
          </a:xfrm>
          <a:prstGeom prst="rect">
            <a:avLst/>
          </a:prstGeom>
          <a:solidFill>
            <a:srgbClr val="EF9F27">
              <a:alpha val="40000"/>
            </a:srgbClr>
          </a:solidFill>
          <a:ln w="12700">
            <a:solidFill>
              <a:srgbClr val="EF9F27"/>
            </a:solidFill>
            <a:prstDash val="solid"/>
          </a:ln>
        </p:spPr>
      </p:sp>
      <p:sp>
        <p:nvSpPr>
          <p:cNvPr id="6" name="Text 4"/>
          <p:cNvSpPr/>
          <p:nvPr/>
        </p:nvSpPr>
        <p:spPr>
          <a:xfrm>
            <a:off x="274320" y="1554480"/>
            <a:ext cx="5943600" cy="2377440"/>
          </a:xfrm>
          <a:prstGeom prst="rect">
            <a:avLst/>
          </a:prstGeom>
          <a:noFill/>
          <a:ln/>
        </p:spPr>
        <p:txBody>
          <a:bodyPr wrap="square" rtlCol="0" anchor="t"/>
          <a:lstStyle/>
          <a:p>
            <a:pPr indent="0" marL="0">
              <a:buNone/>
            </a:pPr>
            <a:r>
              <a:rPr lang="en-US" sz="1500" dirty="0">
                <a:solidFill>
                  <a:srgbClr val="E8E8F0"/>
                </a:solidFill>
                <a:latin typeface="Calibri" pitchFamily="34" charset="0"/>
                <a:ea typeface="Calibri" pitchFamily="34" charset="-122"/>
                <a:cs typeface="Calibri" pitchFamily="34" charset="-120"/>
              </a:rPr>
              <a:t>A license server issues a short-lived decryption key specific to your device and session. Netflix uses Widevine on Android and Chrome, PlayReady on Windows devices, and FairPlay on Apple devices. The video file on the CDN is permanently encrypted — without this key, the data is useless. This is why you can't simply download and redistribute a Netflix file.</a:t>
            </a:r>
            <a:endParaRPr lang="en-US" sz="1500" dirty="0"/>
          </a:p>
        </p:txBody>
      </p:sp>
      <p:sp>
        <p:nvSpPr>
          <p:cNvPr id="7" name="Shape 5"/>
          <p:cNvSpPr/>
          <p:nvPr/>
        </p:nvSpPr>
        <p:spPr>
          <a:xfrm>
            <a:off x="274320" y="4206240"/>
            <a:ext cx="3657600" cy="347472"/>
          </a:xfrm>
          <a:prstGeom prst="rect">
            <a:avLst/>
          </a:prstGeom>
          <a:solidFill>
            <a:srgbClr val="EF9F27">
              <a:alpha val="20000"/>
            </a:srgbClr>
          </a:solidFill>
          <a:ln w="12700">
            <a:solidFill>
              <a:srgbClr val="EF9F27"/>
            </a:solidFill>
            <a:prstDash val="solid"/>
          </a:ln>
        </p:spPr>
      </p:sp>
      <p:sp>
        <p:nvSpPr>
          <p:cNvPr id="8" name="Text 6"/>
          <p:cNvSpPr/>
          <p:nvPr/>
        </p:nvSpPr>
        <p:spPr>
          <a:xfrm>
            <a:off x="274320" y="4206240"/>
            <a:ext cx="3657600" cy="347472"/>
          </a:xfrm>
          <a:prstGeom prst="rect">
            <a:avLst/>
          </a:prstGeom>
          <a:noFill/>
          <a:ln/>
        </p:spPr>
        <p:txBody>
          <a:bodyPr wrap="square" rtlCol="0" anchor="ctr"/>
          <a:lstStyle/>
          <a:p>
            <a:pPr algn="ctr" indent="0" marL="0">
              <a:buNone/>
            </a:pPr>
            <a:r>
              <a:rPr lang="en-US" sz="1100" b="1" dirty="0">
                <a:solidFill>
                  <a:srgbClr val="EF9F27"/>
                </a:solidFill>
                <a:latin typeface="Calibri" pitchFamily="34" charset="0"/>
                <a:ea typeface="Calibri" pitchFamily="34" charset="-122"/>
                <a:cs typeface="Calibri" pitchFamily="34" charset="-120"/>
              </a:rPr>
              <a:t>AES-128 / Widevine / FairPlay</a:t>
            </a:r>
            <a:endParaRPr lang="en-US" sz="1100" dirty="0"/>
          </a:p>
        </p:txBody>
      </p:sp>
      <p:sp>
        <p:nvSpPr>
          <p:cNvPr id="10" name="Shape 7"/>
          <p:cNvSpPr/>
          <p:nvPr/>
        </p:nvSpPr>
        <p:spPr>
          <a:xfrm>
            <a:off x="6400800" y="1097280"/>
            <a:ext cx="2468880" cy="1005840"/>
          </a:xfrm>
          <a:prstGeom prst="rect">
            <a:avLst/>
          </a:prstGeom>
          <a:solidFill>
            <a:srgbClr val="12121A"/>
          </a:solidFill>
          <a:ln w="12700">
            <a:solidFill>
              <a:srgbClr val="EF9F27"/>
            </a:solidFill>
            <a:prstDash val="solid"/>
          </a:ln>
        </p:spPr>
      </p:sp>
      <p:sp>
        <p:nvSpPr>
          <p:cNvPr id="11" name="Text 8"/>
          <p:cNvSpPr/>
          <p:nvPr/>
        </p:nvSpPr>
        <p:spPr>
          <a:xfrm>
            <a:off x="6400800" y="1143000"/>
            <a:ext cx="2468880" cy="457200"/>
          </a:xfrm>
          <a:prstGeom prst="rect">
            <a:avLst/>
          </a:prstGeom>
          <a:noFill/>
          <a:ln/>
        </p:spPr>
        <p:txBody>
          <a:bodyPr wrap="square" rtlCol="0" anchor="ctr"/>
          <a:lstStyle/>
          <a:p>
            <a:pPr algn="ctr" indent="0" marL="0">
              <a:buNone/>
            </a:pPr>
            <a:r>
              <a:rPr lang="en-US" sz="1300" b="1" dirty="0">
                <a:solidFill>
                  <a:srgbClr val="EF9F27"/>
                </a:solidFill>
                <a:latin typeface="Georgia" pitchFamily="34" charset="0"/>
                <a:ea typeface="Georgia" pitchFamily="34" charset="-122"/>
                <a:cs typeface="Georgia" pitchFamily="34" charset="-120"/>
              </a:rPr>
              <a:t>Widevine</a:t>
            </a:r>
            <a:endParaRPr lang="en-US" sz="1300" dirty="0"/>
          </a:p>
        </p:txBody>
      </p:sp>
      <p:sp>
        <p:nvSpPr>
          <p:cNvPr id="12" name="Text 9"/>
          <p:cNvSpPr/>
          <p:nvPr/>
        </p:nvSpPr>
        <p:spPr>
          <a:xfrm>
            <a:off x="6400800" y="1600200"/>
            <a:ext cx="2468880" cy="365760"/>
          </a:xfrm>
          <a:prstGeom prst="rect">
            <a:avLst/>
          </a:prstGeom>
          <a:noFill/>
          <a:ln/>
        </p:spPr>
        <p:txBody>
          <a:bodyPr wrap="square" rtlCol="0" anchor="ctr"/>
          <a:lstStyle/>
          <a:p>
            <a:pPr algn="ctr" indent="0" marL="0">
              <a:buNone/>
            </a:pPr>
            <a:r>
              <a:rPr lang="en-US" sz="1000" dirty="0">
                <a:solidFill>
                  <a:srgbClr val="888898"/>
                </a:solidFill>
                <a:latin typeface="Calibri" pitchFamily="34" charset="0"/>
                <a:ea typeface="Calibri" pitchFamily="34" charset="-122"/>
                <a:cs typeface="Calibri" pitchFamily="34" charset="-120"/>
              </a:rPr>
              <a:t>Android, Chrome</a:t>
            </a:r>
            <a:endParaRPr lang="en-US" sz="1000" dirty="0"/>
          </a:p>
        </p:txBody>
      </p:sp>
      <p:sp>
        <p:nvSpPr>
          <p:cNvPr id="13" name="Shape 10"/>
          <p:cNvSpPr/>
          <p:nvPr/>
        </p:nvSpPr>
        <p:spPr>
          <a:xfrm>
            <a:off x="6400800" y="2331720"/>
            <a:ext cx="2468880" cy="1005840"/>
          </a:xfrm>
          <a:prstGeom prst="rect">
            <a:avLst/>
          </a:prstGeom>
          <a:solidFill>
            <a:srgbClr val="12121A"/>
          </a:solidFill>
          <a:ln w="12700">
            <a:solidFill>
              <a:srgbClr val="EF9F27"/>
            </a:solidFill>
            <a:prstDash val="solid"/>
          </a:ln>
        </p:spPr>
      </p:sp>
      <p:sp>
        <p:nvSpPr>
          <p:cNvPr id="14" name="Text 11"/>
          <p:cNvSpPr/>
          <p:nvPr/>
        </p:nvSpPr>
        <p:spPr>
          <a:xfrm>
            <a:off x="6400800" y="2377440"/>
            <a:ext cx="2468880" cy="457200"/>
          </a:xfrm>
          <a:prstGeom prst="rect">
            <a:avLst/>
          </a:prstGeom>
          <a:noFill/>
          <a:ln/>
        </p:spPr>
        <p:txBody>
          <a:bodyPr wrap="square" rtlCol="0" anchor="ctr"/>
          <a:lstStyle/>
          <a:p>
            <a:pPr algn="ctr" indent="0" marL="0">
              <a:buNone/>
            </a:pPr>
            <a:r>
              <a:rPr lang="en-US" sz="1300" b="1" dirty="0">
                <a:solidFill>
                  <a:srgbClr val="EF9F27"/>
                </a:solidFill>
                <a:latin typeface="Georgia" pitchFamily="34" charset="0"/>
                <a:ea typeface="Georgia" pitchFamily="34" charset="-122"/>
                <a:cs typeface="Georgia" pitchFamily="34" charset="-120"/>
              </a:rPr>
              <a:t>PlayReady</a:t>
            </a:r>
            <a:endParaRPr lang="en-US" sz="1300" dirty="0"/>
          </a:p>
        </p:txBody>
      </p:sp>
      <p:sp>
        <p:nvSpPr>
          <p:cNvPr id="15" name="Text 12"/>
          <p:cNvSpPr/>
          <p:nvPr/>
        </p:nvSpPr>
        <p:spPr>
          <a:xfrm>
            <a:off x="6400800" y="2834640"/>
            <a:ext cx="2468880" cy="365760"/>
          </a:xfrm>
          <a:prstGeom prst="rect">
            <a:avLst/>
          </a:prstGeom>
          <a:noFill/>
          <a:ln/>
        </p:spPr>
        <p:txBody>
          <a:bodyPr wrap="square" rtlCol="0" anchor="ctr"/>
          <a:lstStyle/>
          <a:p>
            <a:pPr algn="ctr" indent="0" marL="0">
              <a:buNone/>
            </a:pPr>
            <a:r>
              <a:rPr lang="en-US" sz="1000" dirty="0">
                <a:solidFill>
                  <a:srgbClr val="888898"/>
                </a:solidFill>
                <a:latin typeface="Calibri" pitchFamily="34" charset="0"/>
                <a:ea typeface="Calibri" pitchFamily="34" charset="-122"/>
                <a:cs typeface="Calibri" pitchFamily="34" charset="-120"/>
              </a:rPr>
              <a:t>Windows, Xbox</a:t>
            </a:r>
            <a:endParaRPr lang="en-US" sz="1000" dirty="0"/>
          </a:p>
        </p:txBody>
      </p:sp>
      <p:sp>
        <p:nvSpPr>
          <p:cNvPr id="16" name="Shape 13"/>
          <p:cNvSpPr/>
          <p:nvPr/>
        </p:nvSpPr>
        <p:spPr>
          <a:xfrm>
            <a:off x="6400800" y="3566160"/>
            <a:ext cx="2468880" cy="1005840"/>
          </a:xfrm>
          <a:prstGeom prst="rect">
            <a:avLst/>
          </a:prstGeom>
          <a:solidFill>
            <a:srgbClr val="12121A"/>
          </a:solidFill>
          <a:ln w="12700">
            <a:solidFill>
              <a:srgbClr val="EF9F27"/>
            </a:solidFill>
            <a:prstDash val="solid"/>
          </a:ln>
        </p:spPr>
      </p:sp>
      <p:sp>
        <p:nvSpPr>
          <p:cNvPr id="17" name="Text 14"/>
          <p:cNvSpPr/>
          <p:nvPr/>
        </p:nvSpPr>
        <p:spPr>
          <a:xfrm>
            <a:off x="6400800" y="3611880"/>
            <a:ext cx="2468880" cy="457200"/>
          </a:xfrm>
          <a:prstGeom prst="rect">
            <a:avLst/>
          </a:prstGeom>
          <a:noFill/>
          <a:ln/>
        </p:spPr>
        <p:txBody>
          <a:bodyPr wrap="square" rtlCol="0" anchor="ctr"/>
          <a:lstStyle/>
          <a:p>
            <a:pPr algn="ctr" indent="0" marL="0">
              <a:buNone/>
            </a:pPr>
            <a:r>
              <a:rPr lang="en-US" sz="1300" b="1" dirty="0">
                <a:solidFill>
                  <a:srgbClr val="EF9F27"/>
                </a:solidFill>
                <a:latin typeface="Georgia" pitchFamily="34" charset="0"/>
                <a:ea typeface="Georgia" pitchFamily="34" charset="-122"/>
                <a:cs typeface="Georgia" pitchFamily="34" charset="-120"/>
              </a:rPr>
              <a:t>FairPlay</a:t>
            </a:r>
            <a:endParaRPr lang="en-US" sz="1300" dirty="0"/>
          </a:p>
        </p:txBody>
      </p:sp>
      <p:sp>
        <p:nvSpPr>
          <p:cNvPr id="18" name="Text 15"/>
          <p:cNvSpPr/>
          <p:nvPr/>
        </p:nvSpPr>
        <p:spPr>
          <a:xfrm>
            <a:off x="6400800" y="4069080"/>
            <a:ext cx="2468880" cy="365760"/>
          </a:xfrm>
          <a:prstGeom prst="rect">
            <a:avLst/>
          </a:prstGeom>
          <a:noFill/>
          <a:ln/>
        </p:spPr>
        <p:txBody>
          <a:bodyPr wrap="square" rtlCol="0" anchor="ctr"/>
          <a:lstStyle/>
          <a:p>
            <a:pPr algn="ctr" indent="0" marL="0">
              <a:buNone/>
            </a:pPr>
            <a:r>
              <a:rPr lang="en-US" sz="1000" dirty="0">
                <a:solidFill>
                  <a:srgbClr val="888898"/>
                </a:solidFill>
                <a:latin typeface="Calibri" pitchFamily="34" charset="0"/>
                <a:ea typeface="Calibri" pitchFamily="34" charset="-122"/>
                <a:cs typeface="Calibri" pitchFamily="34" charset="-120"/>
              </a:rPr>
              <a:t>iOS, macOS, tvOS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D9E75"/>
          </a:solidFill>
          <a:ln w="12700">
            <a:solidFill>
              <a:srgbClr val="1D9E75"/>
            </a:solidFill>
            <a:prstDash val="solid"/>
          </a:ln>
        </p:spPr>
      </p:sp>
      <p:sp>
        <p:nvSpPr>
          <p:cNvPr id="3" name="Text 1"/>
          <p:cNvSpPr/>
          <p:nvPr/>
        </p:nvSpPr>
        <p:spPr>
          <a:xfrm>
            <a:off x="365760" y="1645920"/>
            <a:ext cx="8412480" cy="457200"/>
          </a:xfrm>
          <a:prstGeom prst="rect">
            <a:avLst/>
          </a:prstGeom>
          <a:noFill/>
          <a:ln/>
        </p:spPr>
        <p:txBody>
          <a:bodyPr wrap="square" rtlCol="0" anchor="ctr"/>
          <a:lstStyle/>
          <a:p>
            <a:pPr indent="0" marL="0">
              <a:buNone/>
            </a:pPr>
            <a:r>
              <a:rPr lang="en-US" sz="1300" spc="600" kern="0" dirty="0">
                <a:solidFill>
                  <a:srgbClr val="1D9E75"/>
                </a:solidFill>
                <a:latin typeface="Calibri" pitchFamily="34" charset="0"/>
                <a:ea typeface="Calibri" pitchFamily="34" charset="-122"/>
                <a:cs typeface="Calibri" pitchFamily="34" charset="-120"/>
              </a:rPr>
              <a:t>Chapter 3</a:t>
            </a:r>
            <a:endParaRPr lang="en-US" sz="1300" dirty="0"/>
          </a:p>
        </p:txBody>
      </p:sp>
      <p:sp>
        <p:nvSpPr>
          <p:cNvPr id="4" name="Text 2"/>
          <p:cNvSpPr/>
          <p:nvPr/>
        </p:nvSpPr>
        <p:spPr>
          <a:xfrm>
            <a:off x="365760" y="2011680"/>
            <a:ext cx="8412480" cy="1097280"/>
          </a:xfrm>
          <a:prstGeom prst="rect">
            <a:avLst/>
          </a:prstGeom>
          <a:noFill/>
          <a:ln/>
        </p:spPr>
        <p:txBody>
          <a:bodyPr wrap="square"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The Decision</a:t>
            </a:r>
            <a:endParaRPr lang="en-US" sz="4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D9E75"/>
          </a:solidFill>
          <a:ln w="12700">
            <a:solidFill>
              <a:srgbClr val="1D9E75"/>
            </a:solidFill>
            <a:prstDash val="solid"/>
          </a:ln>
        </p:spPr>
      </p:sp>
      <p:sp>
        <p:nvSpPr>
          <p:cNvPr id="3" name="Text 1"/>
          <p:cNvSpPr/>
          <p:nvPr/>
        </p:nvSpPr>
        <p:spPr>
          <a:xfrm>
            <a:off x="274320" y="320040"/>
            <a:ext cx="8412480" cy="320040"/>
          </a:xfrm>
          <a:prstGeom prst="rect">
            <a:avLst/>
          </a:prstGeom>
          <a:noFill/>
          <a:ln/>
        </p:spPr>
        <p:txBody>
          <a:bodyPr wrap="square" rtlCol="0" anchor="ctr"/>
          <a:lstStyle/>
          <a:p>
            <a:pPr indent="0" marL="0">
              <a:buNone/>
            </a:pPr>
            <a:r>
              <a:rPr lang="en-US" sz="1100" b="1" spc="400" kern="0" dirty="0">
                <a:solidFill>
                  <a:srgbClr val="1D9E75"/>
                </a:solidFill>
                <a:latin typeface="Calibri" pitchFamily="34" charset="0"/>
                <a:ea typeface="Calibri" pitchFamily="34" charset="-122"/>
                <a:cs typeface="Calibri" pitchFamily="34" charset="-120"/>
              </a:rPr>
              <a:t>05 — Playback API</a:t>
            </a:r>
            <a:endParaRPr lang="en-US" sz="1100" dirty="0"/>
          </a:p>
        </p:txBody>
      </p:sp>
      <p:sp>
        <p:nvSpPr>
          <p:cNvPr id="4" name="Text 2"/>
          <p:cNvSpPr/>
          <p:nvPr/>
        </p:nvSpPr>
        <p:spPr>
          <a:xfrm>
            <a:off x="274320" y="640080"/>
            <a:ext cx="8595360" cy="7315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What to send you</a:t>
            </a:r>
            <a:endParaRPr lang="en-US" sz="3600" dirty="0"/>
          </a:p>
        </p:txBody>
      </p:sp>
      <p:sp>
        <p:nvSpPr>
          <p:cNvPr id="5" name="Shape 3"/>
          <p:cNvSpPr/>
          <p:nvPr/>
        </p:nvSpPr>
        <p:spPr>
          <a:xfrm>
            <a:off x="274320" y="1417320"/>
            <a:ext cx="8595360" cy="10973"/>
          </a:xfrm>
          <a:prstGeom prst="rect">
            <a:avLst/>
          </a:prstGeom>
          <a:solidFill>
            <a:srgbClr val="1D9E75">
              <a:alpha val="40000"/>
            </a:srgbClr>
          </a:solidFill>
          <a:ln w="12700">
            <a:solidFill>
              <a:srgbClr val="1D9E75"/>
            </a:solidFill>
            <a:prstDash val="solid"/>
          </a:ln>
        </p:spPr>
      </p:sp>
      <p:sp>
        <p:nvSpPr>
          <p:cNvPr id="6" name="Text 4"/>
          <p:cNvSpPr/>
          <p:nvPr/>
        </p:nvSpPr>
        <p:spPr>
          <a:xfrm>
            <a:off x="274320" y="1554480"/>
            <a:ext cx="5943600" cy="2377440"/>
          </a:xfrm>
          <a:prstGeom prst="rect">
            <a:avLst/>
          </a:prstGeom>
          <a:noFill/>
          <a:ln/>
        </p:spPr>
        <p:txBody>
          <a:bodyPr wrap="square" rtlCol="0" anchor="t"/>
          <a:lstStyle/>
          <a:p>
            <a:pPr indent="0" marL="0">
              <a:buNone/>
            </a:pPr>
            <a:r>
              <a:rPr lang="en-US" sz="1500" dirty="0">
                <a:solidFill>
                  <a:srgbClr val="E8E8F0"/>
                </a:solidFill>
                <a:latin typeface="Calibri" pitchFamily="34" charset="0"/>
                <a:ea typeface="Calibri" pitchFamily="34" charset="-122"/>
                <a:cs typeface="Calibri" pitchFamily="34" charset="-120"/>
              </a:rPr>
              <a:t>The playback service decides the starting video quality, audio track, subtitle language, and which CDN server to direct your device toward. It factors in your device's capabilities, screen resolution, your connection's historical bandwidth, and your language preferences. This step also selects the video codec — H.264 for broad compatibility, AV1 for efficient devices that support it.</a:t>
            </a:r>
            <a:endParaRPr lang="en-US" sz="1500" dirty="0"/>
          </a:p>
        </p:txBody>
      </p:sp>
      <p:sp>
        <p:nvSpPr>
          <p:cNvPr id="7" name="Shape 5"/>
          <p:cNvSpPr/>
          <p:nvPr/>
        </p:nvSpPr>
        <p:spPr>
          <a:xfrm>
            <a:off x="274320" y="4206240"/>
            <a:ext cx="2596896" cy="347472"/>
          </a:xfrm>
          <a:prstGeom prst="rect">
            <a:avLst/>
          </a:prstGeom>
          <a:solidFill>
            <a:srgbClr val="1D9E75">
              <a:alpha val="20000"/>
            </a:srgbClr>
          </a:solidFill>
          <a:ln w="12700">
            <a:solidFill>
              <a:srgbClr val="1D9E75"/>
            </a:solidFill>
            <a:prstDash val="solid"/>
          </a:ln>
        </p:spPr>
      </p:sp>
      <p:sp>
        <p:nvSpPr>
          <p:cNvPr id="8" name="Text 6"/>
          <p:cNvSpPr/>
          <p:nvPr/>
        </p:nvSpPr>
        <p:spPr>
          <a:xfrm>
            <a:off x="274320" y="4206240"/>
            <a:ext cx="2596896" cy="347472"/>
          </a:xfrm>
          <a:prstGeom prst="rect">
            <a:avLst/>
          </a:prstGeom>
          <a:noFill/>
          <a:ln/>
        </p:spPr>
        <p:txBody>
          <a:bodyPr wrap="square" rtlCol="0" anchor="ctr"/>
          <a:lstStyle/>
          <a:p>
            <a:pPr algn="ctr" indent="0" marL="0">
              <a:buNone/>
            </a:pPr>
            <a:r>
              <a:rPr lang="en-US" sz="1100" b="1" dirty="0">
                <a:solidFill>
                  <a:srgbClr val="1D9E75"/>
                </a:solidFill>
                <a:latin typeface="Calibri" pitchFamily="34" charset="0"/>
                <a:ea typeface="Calibri" pitchFamily="34" charset="-122"/>
                <a:cs typeface="Calibri" pitchFamily="34" charset="-120"/>
              </a:rPr>
              <a:t>Adaptive streaming</a:t>
            </a:r>
            <a:endParaRPr lang="en-US" sz="1100" dirty="0"/>
          </a:p>
        </p:txBody>
      </p:sp>
      <p:sp>
        <p:nvSpPr>
          <p:cNvPr id="10" name="Shape 7"/>
          <p:cNvSpPr/>
          <p:nvPr/>
        </p:nvSpPr>
        <p:spPr>
          <a:xfrm>
            <a:off x="6492240" y="4206240"/>
            <a:ext cx="256032" cy="274320"/>
          </a:xfrm>
          <a:prstGeom prst="rect">
            <a:avLst/>
          </a:prstGeom>
          <a:solidFill>
            <a:srgbClr val="888780"/>
          </a:solidFill>
          <a:ln w="12700">
            <a:solidFill>
              <a:srgbClr val="888780"/>
            </a:solidFill>
            <a:prstDash val="solid"/>
          </a:ln>
        </p:spPr>
      </p:sp>
      <p:sp>
        <p:nvSpPr>
          <p:cNvPr id="11" name="Text 8"/>
          <p:cNvSpPr/>
          <p:nvPr/>
        </p:nvSpPr>
        <p:spPr>
          <a:xfrm>
            <a:off x="6446520" y="4498848"/>
            <a:ext cx="347472" cy="274320"/>
          </a:xfrm>
          <a:prstGeom prst="rect">
            <a:avLst/>
          </a:prstGeom>
          <a:noFill/>
          <a:ln/>
        </p:spPr>
        <p:txBody>
          <a:bodyPr wrap="square" rtlCol="0" anchor="ctr"/>
          <a:lstStyle/>
          <a:p>
            <a:pPr algn="ctr" indent="0" marL="0">
              <a:buNone/>
            </a:pPr>
            <a:r>
              <a:rPr lang="en-US" sz="800" dirty="0">
                <a:solidFill>
                  <a:srgbClr val="888898"/>
                </a:solidFill>
                <a:latin typeface="Calibri" pitchFamily="34" charset="0"/>
                <a:ea typeface="Calibri" pitchFamily="34" charset="-122"/>
                <a:cs typeface="Calibri" pitchFamily="34" charset="-120"/>
              </a:rPr>
              <a:t>240p</a:t>
            </a:r>
            <a:endParaRPr lang="en-US" sz="800" dirty="0"/>
          </a:p>
        </p:txBody>
      </p:sp>
      <p:sp>
        <p:nvSpPr>
          <p:cNvPr id="12" name="Shape 9"/>
          <p:cNvSpPr/>
          <p:nvPr/>
        </p:nvSpPr>
        <p:spPr>
          <a:xfrm>
            <a:off x="6839712" y="4023360"/>
            <a:ext cx="256032" cy="457200"/>
          </a:xfrm>
          <a:prstGeom prst="rect">
            <a:avLst/>
          </a:prstGeom>
          <a:solidFill>
            <a:srgbClr val="888780"/>
          </a:solidFill>
          <a:ln w="12700">
            <a:solidFill>
              <a:srgbClr val="888780"/>
            </a:solidFill>
            <a:prstDash val="solid"/>
          </a:ln>
        </p:spPr>
      </p:sp>
      <p:sp>
        <p:nvSpPr>
          <p:cNvPr id="13" name="Text 10"/>
          <p:cNvSpPr/>
          <p:nvPr/>
        </p:nvSpPr>
        <p:spPr>
          <a:xfrm>
            <a:off x="6793992" y="4498848"/>
            <a:ext cx="347472" cy="274320"/>
          </a:xfrm>
          <a:prstGeom prst="rect">
            <a:avLst/>
          </a:prstGeom>
          <a:noFill/>
          <a:ln/>
        </p:spPr>
        <p:txBody>
          <a:bodyPr wrap="square" rtlCol="0" anchor="ctr"/>
          <a:lstStyle/>
          <a:p>
            <a:pPr algn="ctr" indent="0" marL="0">
              <a:buNone/>
            </a:pPr>
            <a:r>
              <a:rPr lang="en-US" sz="800" dirty="0">
                <a:solidFill>
                  <a:srgbClr val="888898"/>
                </a:solidFill>
                <a:latin typeface="Calibri" pitchFamily="34" charset="0"/>
                <a:ea typeface="Calibri" pitchFamily="34" charset="-122"/>
                <a:cs typeface="Calibri" pitchFamily="34" charset="-120"/>
              </a:rPr>
              <a:t>360p</a:t>
            </a:r>
            <a:endParaRPr lang="en-US" sz="800" dirty="0"/>
          </a:p>
        </p:txBody>
      </p:sp>
      <p:sp>
        <p:nvSpPr>
          <p:cNvPr id="14" name="Shape 11"/>
          <p:cNvSpPr/>
          <p:nvPr/>
        </p:nvSpPr>
        <p:spPr>
          <a:xfrm>
            <a:off x="7187184" y="3794760"/>
            <a:ext cx="256032" cy="685800"/>
          </a:xfrm>
          <a:prstGeom prst="rect">
            <a:avLst/>
          </a:prstGeom>
          <a:solidFill>
            <a:srgbClr val="888780"/>
          </a:solidFill>
          <a:ln w="12700">
            <a:solidFill>
              <a:srgbClr val="888780"/>
            </a:solidFill>
            <a:prstDash val="solid"/>
          </a:ln>
        </p:spPr>
      </p:sp>
      <p:sp>
        <p:nvSpPr>
          <p:cNvPr id="15" name="Text 12"/>
          <p:cNvSpPr/>
          <p:nvPr/>
        </p:nvSpPr>
        <p:spPr>
          <a:xfrm>
            <a:off x="7141464" y="4498848"/>
            <a:ext cx="347472" cy="274320"/>
          </a:xfrm>
          <a:prstGeom prst="rect">
            <a:avLst/>
          </a:prstGeom>
          <a:noFill/>
          <a:ln/>
        </p:spPr>
        <p:txBody>
          <a:bodyPr wrap="square" rtlCol="0" anchor="ctr"/>
          <a:lstStyle/>
          <a:p>
            <a:pPr algn="ctr" indent="0" marL="0">
              <a:buNone/>
            </a:pPr>
            <a:r>
              <a:rPr lang="en-US" sz="800" dirty="0">
                <a:solidFill>
                  <a:srgbClr val="888898"/>
                </a:solidFill>
                <a:latin typeface="Calibri" pitchFamily="34" charset="0"/>
                <a:ea typeface="Calibri" pitchFamily="34" charset="-122"/>
                <a:cs typeface="Calibri" pitchFamily="34" charset="-120"/>
              </a:rPr>
              <a:t>480p</a:t>
            </a:r>
            <a:endParaRPr lang="en-US" sz="800" dirty="0"/>
          </a:p>
        </p:txBody>
      </p:sp>
      <p:sp>
        <p:nvSpPr>
          <p:cNvPr id="16" name="Shape 13"/>
          <p:cNvSpPr/>
          <p:nvPr/>
        </p:nvSpPr>
        <p:spPr>
          <a:xfrm>
            <a:off x="7534656" y="3520440"/>
            <a:ext cx="256032" cy="960120"/>
          </a:xfrm>
          <a:prstGeom prst="rect">
            <a:avLst/>
          </a:prstGeom>
          <a:solidFill>
            <a:srgbClr val="1D9E75"/>
          </a:solidFill>
          <a:ln w="12700">
            <a:solidFill>
              <a:srgbClr val="1D9E75"/>
            </a:solidFill>
            <a:prstDash val="solid"/>
          </a:ln>
        </p:spPr>
      </p:sp>
      <p:sp>
        <p:nvSpPr>
          <p:cNvPr id="17" name="Text 14"/>
          <p:cNvSpPr/>
          <p:nvPr/>
        </p:nvSpPr>
        <p:spPr>
          <a:xfrm>
            <a:off x="7488936" y="4498848"/>
            <a:ext cx="347472" cy="274320"/>
          </a:xfrm>
          <a:prstGeom prst="rect">
            <a:avLst/>
          </a:prstGeom>
          <a:noFill/>
          <a:ln/>
        </p:spPr>
        <p:txBody>
          <a:bodyPr wrap="square" rtlCol="0" anchor="ctr"/>
          <a:lstStyle/>
          <a:p>
            <a:pPr algn="ctr" indent="0" marL="0">
              <a:buNone/>
            </a:pPr>
            <a:r>
              <a:rPr lang="en-US" sz="800" dirty="0">
                <a:solidFill>
                  <a:srgbClr val="888898"/>
                </a:solidFill>
                <a:latin typeface="Calibri" pitchFamily="34" charset="0"/>
                <a:ea typeface="Calibri" pitchFamily="34" charset="-122"/>
                <a:cs typeface="Calibri" pitchFamily="34" charset="-120"/>
              </a:rPr>
              <a:t>720p</a:t>
            </a:r>
            <a:endParaRPr lang="en-US" sz="800" dirty="0"/>
          </a:p>
        </p:txBody>
      </p:sp>
      <p:sp>
        <p:nvSpPr>
          <p:cNvPr id="18" name="Shape 15"/>
          <p:cNvSpPr/>
          <p:nvPr/>
        </p:nvSpPr>
        <p:spPr>
          <a:xfrm>
            <a:off x="7882128" y="3246120"/>
            <a:ext cx="256032" cy="1234440"/>
          </a:xfrm>
          <a:prstGeom prst="rect">
            <a:avLst/>
          </a:prstGeom>
          <a:solidFill>
            <a:srgbClr val="5DCAA5"/>
          </a:solidFill>
          <a:ln w="12700">
            <a:solidFill>
              <a:srgbClr val="5DCAA5"/>
            </a:solidFill>
            <a:prstDash val="solid"/>
          </a:ln>
        </p:spPr>
      </p:sp>
      <p:sp>
        <p:nvSpPr>
          <p:cNvPr id="19" name="Text 16"/>
          <p:cNvSpPr/>
          <p:nvPr/>
        </p:nvSpPr>
        <p:spPr>
          <a:xfrm>
            <a:off x="7836408" y="4498848"/>
            <a:ext cx="347472" cy="274320"/>
          </a:xfrm>
          <a:prstGeom prst="rect">
            <a:avLst/>
          </a:prstGeom>
          <a:noFill/>
          <a:ln/>
        </p:spPr>
        <p:txBody>
          <a:bodyPr wrap="square" rtlCol="0" anchor="ctr"/>
          <a:lstStyle/>
          <a:p>
            <a:pPr algn="ctr" indent="0" marL="0">
              <a:buNone/>
            </a:pPr>
            <a:r>
              <a:rPr lang="en-US" sz="800" dirty="0">
                <a:solidFill>
                  <a:srgbClr val="888898"/>
                </a:solidFill>
                <a:latin typeface="Calibri" pitchFamily="34" charset="0"/>
                <a:ea typeface="Calibri" pitchFamily="34" charset="-122"/>
                <a:cs typeface="Calibri" pitchFamily="34" charset="-120"/>
              </a:rPr>
              <a:t>1080p</a:t>
            </a:r>
            <a:endParaRPr lang="en-US" sz="800" dirty="0"/>
          </a:p>
        </p:txBody>
      </p:sp>
      <p:sp>
        <p:nvSpPr>
          <p:cNvPr id="20" name="Shape 17"/>
          <p:cNvSpPr/>
          <p:nvPr/>
        </p:nvSpPr>
        <p:spPr>
          <a:xfrm>
            <a:off x="8229600" y="2926080"/>
            <a:ext cx="256032" cy="1554480"/>
          </a:xfrm>
          <a:prstGeom prst="rect">
            <a:avLst/>
          </a:prstGeom>
          <a:solidFill>
            <a:srgbClr val="E05A30"/>
          </a:solidFill>
          <a:ln w="12700">
            <a:solidFill>
              <a:srgbClr val="E05A30"/>
            </a:solidFill>
            <a:prstDash val="solid"/>
          </a:ln>
        </p:spPr>
      </p:sp>
      <p:sp>
        <p:nvSpPr>
          <p:cNvPr id="21" name="Text 18"/>
          <p:cNvSpPr/>
          <p:nvPr/>
        </p:nvSpPr>
        <p:spPr>
          <a:xfrm>
            <a:off x="8183880" y="4498848"/>
            <a:ext cx="347472" cy="274320"/>
          </a:xfrm>
          <a:prstGeom prst="rect">
            <a:avLst/>
          </a:prstGeom>
          <a:noFill/>
          <a:ln/>
        </p:spPr>
        <p:txBody>
          <a:bodyPr wrap="square" rtlCol="0" anchor="ctr"/>
          <a:lstStyle/>
          <a:p>
            <a:pPr algn="ctr" indent="0" marL="0">
              <a:buNone/>
            </a:pPr>
            <a:r>
              <a:rPr lang="en-US" sz="800" dirty="0">
                <a:solidFill>
                  <a:srgbClr val="888898"/>
                </a:solidFill>
                <a:latin typeface="Calibri" pitchFamily="34" charset="0"/>
                <a:ea typeface="Calibri" pitchFamily="34" charset="-122"/>
                <a:cs typeface="Calibri" pitchFamily="34" charset="-120"/>
              </a:rPr>
              <a:t>4K</a:t>
            </a:r>
            <a:endParaRPr lang="en-US" sz="800" dirty="0"/>
          </a:p>
        </p:txBody>
      </p:sp>
      <p:sp>
        <p:nvSpPr>
          <p:cNvPr id="22" name="Text 19"/>
          <p:cNvSpPr/>
          <p:nvPr/>
        </p:nvSpPr>
        <p:spPr>
          <a:xfrm>
            <a:off x="6400800" y="914400"/>
            <a:ext cx="2468880" cy="320040"/>
          </a:xfrm>
          <a:prstGeom prst="rect">
            <a:avLst/>
          </a:prstGeom>
          <a:noFill/>
          <a:ln/>
        </p:spPr>
        <p:txBody>
          <a:bodyPr wrap="square" rtlCol="0" anchor="ctr"/>
          <a:lstStyle/>
          <a:p>
            <a:pPr indent="0" marL="0">
              <a:buNone/>
            </a:pPr>
            <a:r>
              <a:rPr lang="en-US" sz="1000" spc="300" kern="0" dirty="0">
                <a:solidFill>
                  <a:srgbClr val="888898"/>
                </a:solidFill>
                <a:latin typeface="Calibri" pitchFamily="34" charset="0"/>
                <a:ea typeface="Calibri" pitchFamily="34" charset="-122"/>
                <a:cs typeface="Calibri" pitchFamily="34" charset="-120"/>
              </a:rPr>
              <a:t>Quality tiers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D9E75"/>
          </a:solidFill>
          <a:ln w="12700">
            <a:solidFill>
              <a:srgbClr val="1D9E75"/>
            </a:solidFill>
            <a:prstDash val="solid"/>
          </a:ln>
        </p:spPr>
      </p:sp>
      <p:sp>
        <p:nvSpPr>
          <p:cNvPr id="3" name="Text 1"/>
          <p:cNvSpPr/>
          <p:nvPr/>
        </p:nvSpPr>
        <p:spPr>
          <a:xfrm>
            <a:off x="365760" y="1645920"/>
            <a:ext cx="8412480" cy="457200"/>
          </a:xfrm>
          <a:prstGeom prst="rect">
            <a:avLst/>
          </a:prstGeom>
          <a:noFill/>
          <a:ln/>
        </p:spPr>
        <p:txBody>
          <a:bodyPr wrap="square" rtlCol="0" anchor="ctr"/>
          <a:lstStyle/>
          <a:p>
            <a:pPr indent="0" marL="0">
              <a:buNone/>
            </a:pPr>
            <a:r>
              <a:rPr lang="en-US" sz="1300" spc="600" kern="0" dirty="0">
                <a:solidFill>
                  <a:srgbClr val="1D9E75"/>
                </a:solidFill>
                <a:latin typeface="Calibri" pitchFamily="34" charset="0"/>
                <a:ea typeface="Calibri" pitchFamily="34" charset="-122"/>
                <a:cs typeface="Calibri" pitchFamily="34" charset="-120"/>
              </a:rPr>
              <a:t>Chapter 4</a:t>
            </a:r>
            <a:endParaRPr lang="en-US" sz="1300" dirty="0"/>
          </a:p>
        </p:txBody>
      </p:sp>
      <p:sp>
        <p:nvSpPr>
          <p:cNvPr id="4" name="Text 2"/>
          <p:cNvSpPr/>
          <p:nvPr/>
        </p:nvSpPr>
        <p:spPr>
          <a:xfrm>
            <a:off x="365760" y="2011680"/>
            <a:ext cx="8412480" cy="1097280"/>
          </a:xfrm>
          <a:prstGeom prst="rect">
            <a:avLst/>
          </a:prstGeom>
          <a:noFill/>
          <a:ln/>
        </p:spPr>
        <p:txBody>
          <a:bodyPr wrap="square"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Delivery</a:t>
            </a:r>
            <a:endParaRPr lang="en-US" sz="4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D9E75"/>
          </a:solidFill>
          <a:ln w="12700">
            <a:solidFill>
              <a:srgbClr val="1D9E75"/>
            </a:solidFill>
            <a:prstDash val="solid"/>
          </a:ln>
        </p:spPr>
      </p:sp>
      <p:sp>
        <p:nvSpPr>
          <p:cNvPr id="3" name="Text 1"/>
          <p:cNvSpPr/>
          <p:nvPr/>
        </p:nvSpPr>
        <p:spPr>
          <a:xfrm>
            <a:off x="274320" y="320040"/>
            <a:ext cx="8412480" cy="320040"/>
          </a:xfrm>
          <a:prstGeom prst="rect">
            <a:avLst/>
          </a:prstGeom>
          <a:noFill/>
          <a:ln/>
        </p:spPr>
        <p:txBody>
          <a:bodyPr wrap="square" rtlCol="0" anchor="ctr"/>
          <a:lstStyle/>
          <a:p>
            <a:pPr indent="0" marL="0">
              <a:buNone/>
            </a:pPr>
            <a:r>
              <a:rPr lang="en-US" sz="1100" b="1" spc="400" kern="0" dirty="0">
                <a:solidFill>
                  <a:srgbClr val="1D9E75"/>
                </a:solidFill>
                <a:latin typeface="Calibri" pitchFamily="34" charset="0"/>
                <a:ea typeface="Calibri" pitchFamily="34" charset="-122"/>
                <a:cs typeface="Calibri" pitchFamily="34" charset="-120"/>
              </a:rPr>
              <a:t>06 — Open Connect CDN</a:t>
            </a:r>
            <a:endParaRPr lang="en-US" sz="1100" dirty="0"/>
          </a:p>
        </p:txBody>
      </p:sp>
      <p:sp>
        <p:nvSpPr>
          <p:cNvPr id="4" name="Text 2"/>
          <p:cNvSpPr/>
          <p:nvPr/>
        </p:nvSpPr>
        <p:spPr>
          <a:xfrm>
            <a:off x="274320" y="640080"/>
            <a:ext cx="8595360" cy="7315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Netflix's secret weapon</a:t>
            </a:r>
            <a:endParaRPr lang="en-US" sz="3600" dirty="0"/>
          </a:p>
        </p:txBody>
      </p:sp>
      <p:sp>
        <p:nvSpPr>
          <p:cNvPr id="5" name="Shape 3"/>
          <p:cNvSpPr/>
          <p:nvPr/>
        </p:nvSpPr>
        <p:spPr>
          <a:xfrm>
            <a:off x="274320" y="1417320"/>
            <a:ext cx="8595360" cy="10973"/>
          </a:xfrm>
          <a:prstGeom prst="rect">
            <a:avLst/>
          </a:prstGeom>
          <a:solidFill>
            <a:srgbClr val="1D9E75">
              <a:alpha val="40000"/>
            </a:srgbClr>
          </a:solidFill>
          <a:ln w="12700">
            <a:solidFill>
              <a:srgbClr val="1D9E75"/>
            </a:solidFill>
            <a:prstDash val="solid"/>
          </a:ln>
        </p:spPr>
      </p:sp>
      <p:sp>
        <p:nvSpPr>
          <p:cNvPr id="6" name="Text 4"/>
          <p:cNvSpPr/>
          <p:nvPr/>
        </p:nvSpPr>
        <p:spPr>
          <a:xfrm>
            <a:off x="274320" y="1554480"/>
            <a:ext cx="5943600" cy="2377440"/>
          </a:xfrm>
          <a:prstGeom prst="rect">
            <a:avLst/>
          </a:prstGeom>
          <a:noFill/>
          <a:ln/>
        </p:spPr>
        <p:txBody>
          <a:bodyPr wrap="square" rtlCol="0" anchor="t"/>
          <a:lstStyle/>
          <a:p>
            <a:pPr indent="0" marL="0">
              <a:buNone/>
            </a:pPr>
            <a:r>
              <a:rPr lang="en-US" sz="1500" dirty="0">
                <a:solidFill>
                  <a:srgbClr val="E8E8F0"/>
                </a:solidFill>
                <a:latin typeface="Calibri" pitchFamily="34" charset="0"/>
                <a:ea typeface="Calibri" pitchFamily="34" charset="-122"/>
                <a:cs typeface="Calibri" pitchFamily="34" charset="-120"/>
              </a:rPr>
              <a:t>Rather than renting capacity from a third-party CDN, Netflix built its own — Open Connect. They physically install servers inside ISPs' buildings around the world. Your stream comes from a box that might be in the same city, sometimes the same building, as your router. This dramatically reduces latency, cuts transit costs, and improves reliability. Netflix negotiates these placements directly with ISPs.</a:t>
            </a:r>
            <a:endParaRPr lang="en-US" sz="1500" dirty="0"/>
          </a:p>
        </p:txBody>
      </p:sp>
      <p:sp>
        <p:nvSpPr>
          <p:cNvPr id="7" name="Shape 5"/>
          <p:cNvSpPr/>
          <p:nvPr/>
        </p:nvSpPr>
        <p:spPr>
          <a:xfrm>
            <a:off x="274320" y="4206240"/>
            <a:ext cx="3657600" cy="347472"/>
          </a:xfrm>
          <a:prstGeom prst="rect">
            <a:avLst/>
          </a:prstGeom>
          <a:solidFill>
            <a:srgbClr val="1D9E75">
              <a:alpha val="20000"/>
            </a:srgbClr>
          </a:solidFill>
          <a:ln w="12700">
            <a:solidFill>
              <a:srgbClr val="1D9E75"/>
            </a:solidFill>
            <a:prstDash val="solid"/>
          </a:ln>
        </p:spPr>
      </p:sp>
      <p:sp>
        <p:nvSpPr>
          <p:cNvPr id="8" name="Text 6"/>
          <p:cNvSpPr/>
          <p:nvPr/>
        </p:nvSpPr>
        <p:spPr>
          <a:xfrm>
            <a:off x="274320" y="4206240"/>
            <a:ext cx="3657600" cy="347472"/>
          </a:xfrm>
          <a:prstGeom prst="rect">
            <a:avLst/>
          </a:prstGeom>
          <a:noFill/>
          <a:ln/>
        </p:spPr>
        <p:txBody>
          <a:bodyPr wrap="square" rtlCol="0" anchor="ctr"/>
          <a:lstStyle/>
          <a:p>
            <a:pPr algn="ctr" indent="0" marL="0">
              <a:buNone/>
            </a:pPr>
            <a:r>
              <a:rPr lang="en-US" sz="1100" b="1" dirty="0">
                <a:solidFill>
                  <a:srgbClr val="1D9E75"/>
                </a:solidFill>
                <a:latin typeface="Calibri" pitchFamily="34" charset="0"/>
                <a:ea typeface="Calibri" pitchFamily="34" charset="-122"/>
                <a:cs typeface="Calibri" pitchFamily="34" charset="-120"/>
              </a:rPr>
              <a:t>200+ countries, inside ISPs</a:t>
            </a:r>
            <a:endParaRPr lang="en-US" sz="1100" dirty="0"/>
          </a:p>
        </p:txBody>
      </p:sp>
      <p:sp>
        <p:nvSpPr>
          <p:cNvPr id="10" name="Shape 7"/>
          <p:cNvSpPr/>
          <p:nvPr/>
        </p:nvSpPr>
        <p:spPr>
          <a:xfrm>
            <a:off x="6400800" y="914400"/>
            <a:ext cx="2560320" cy="3200400"/>
          </a:xfrm>
          <a:prstGeom prst="rect">
            <a:avLst/>
          </a:prstGeom>
          <a:solidFill>
            <a:srgbClr val="12121A"/>
          </a:solidFill>
          <a:ln w="12700">
            <a:solidFill>
              <a:srgbClr val="1D9E75"/>
            </a:solidFill>
            <a:prstDash val="solid"/>
          </a:ln>
        </p:spPr>
      </p:sp>
      <p:sp>
        <p:nvSpPr>
          <p:cNvPr id="11" name="Text 8"/>
          <p:cNvSpPr/>
          <p:nvPr/>
        </p:nvSpPr>
        <p:spPr>
          <a:xfrm>
            <a:off x="6400800" y="960120"/>
            <a:ext cx="2560320" cy="365760"/>
          </a:xfrm>
          <a:prstGeom prst="rect">
            <a:avLst/>
          </a:prstGeom>
          <a:noFill/>
          <a:ln/>
        </p:spPr>
        <p:txBody>
          <a:bodyPr wrap="square" rtlCol="0" anchor="ctr"/>
          <a:lstStyle/>
          <a:p>
            <a:pPr algn="ctr" indent="0" marL="0">
              <a:buNone/>
            </a:pPr>
            <a:r>
              <a:rPr lang="en-US" sz="1000" spc="300" kern="0" dirty="0">
                <a:solidFill>
                  <a:srgbClr val="1D9E75"/>
                </a:solidFill>
                <a:latin typeface="Calibri" pitchFamily="34" charset="0"/>
                <a:ea typeface="Calibri" pitchFamily="34" charset="-122"/>
                <a:cs typeface="Calibri" pitchFamily="34" charset="-120"/>
              </a:rPr>
              <a:t>ISP Network</a:t>
            </a:r>
            <a:endParaRPr lang="en-US" sz="1000" dirty="0"/>
          </a:p>
        </p:txBody>
      </p:sp>
      <p:sp>
        <p:nvSpPr>
          <p:cNvPr id="12" name="Shape 9"/>
          <p:cNvSpPr/>
          <p:nvPr/>
        </p:nvSpPr>
        <p:spPr>
          <a:xfrm>
            <a:off x="6675120" y="1463040"/>
            <a:ext cx="2011680" cy="731520"/>
          </a:xfrm>
          <a:prstGeom prst="rect">
            <a:avLst/>
          </a:prstGeom>
          <a:solidFill>
            <a:srgbClr val="1A1A26"/>
          </a:solidFill>
          <a:ln w="12700">
            <a:solidFill>
              <a:srgbClr val="1D9E75"/>
            </a:solidFill>
            <a:prstDash val="solid"/>
          </a:ln>
        </p:spPr>
      </p:sp>
      <p:sp>
        <p:nvSpPr>
          <p:cNvPr id="13" name="Text 10"/>
          <p:cNvSpPr/>
          <p:nvPr/>
        </p:nvSpPr>
        <p:spPr>
          <a:xfrm>
            <a:off x="6675120" y="1463040"/>
            <a:ext cx="2011680" cy="731520"/>
          </a:xfrm>
          <a:prstGeom prst="rect">
            <a:avLst/>
          </a:prstGeom>
          <a:noFill/>
          <a:ln/>
        </p:spPr>
        <p:txBody>
          <a:bodyPr wrap="square" rtlCol="0" anchor="ctr"/>
          <a:lstStyle/>
          <a:p>
            <a:pPr algn="ctr" indent="0" marL="0">
              <a:buNone/>
            </a:pPr>
            <a:r>
              <a:rPr lang="en-US" sz="1000" dirty="0">
                <a:solidFill>
                  <a:srgbClr val="5DCAA5"/>
                </a:solidFill>
                <a:latin typeface="Calibri" pitchFamily="34" charset="0"/>
                <a:ea typeface="Calibri" pitchFamily="34" charset="-122"/>
                <a:cs typeface="Calibri" pitchFamily="34" charset="-120"/>
              </a:rPr>
              <a:t>Open Connect</a:t>
            </a:r>
            <a:endParaRPr lang="en-US" sz="1000" dirty="0"/>
          </a:p>
          <a:p>
            <a:pPr algn="ctr" indent="0" marL="0">
              <a:buNone/>
            </a:pPr>
            <a:r>
              <a:rPr lang="en-US" sz="1000" dirty="0">
                <a:solidFill>
                  <a:srgbClr val="5DCAA5"/>
                </a:solidFill>
                <a:latin typeface="Calibri" pitchFamily="34" charset="0"/>
                <a:ea typeface="Calibri" pitchFamily="34" charset="-122"/>
                <a:cs typeface="Calibri" pitchFamily="34" charset="-120"/>
              </a:rPr>
              <a:t>Appliance</a:t>
            </a:r>
            <a:endParaRPr lang="en-US" sz="1000" dirty="0"/>
          </a:p>
        </p:txBody>
      </p:sp>
      <p:sp>
        <p:nvSpPr>
          <p:cNvPr id="14" name="Shape 11"/>
          <p:cNvSpPr/>
          <p:nvPr/>
        </p:nvSpPr>
        <p:spPr>
          <a:xfrm>
            <a:off x="7680960" y="2194560"/>
            <a:ext cx="0" cy="457200"/>
          </a:xfrm>
          <a:prstGeom prst="line">
            <a:avLst/>
          </a:prstGeom>
          <a:noFill/>
          <a:ln w="12700">
            <a:solidFill>
              <a:srgbClr val="1D9E75"/>
            </a:solidFill>
            <a:prstDash val="sysDot"/>
          </a:ln>
        </p:spPr>
      </p:sp>
      <p:sp>
        <p:nvSpPr>
          <p:cNvPr id="15" name="Shape 12"/>
          <p:cNvSpPr/>
          <p:nvPr/>
        </p:nvSpPr>
        <p:spPr>
          <a:xfrm>
            <a:off x="6675120" y="2743200"/>
            <a:ext cx="2011680" cy="731520"/>
          </a:xfrm>
          <a:prstGeom prst="rect">
            <a:avLst/>
          </a:prstGeom>
          <a:solidFill>
            <a:srgbClr val="1A1A26"/>
          </a:solidFill>
          <a:ln w="12700">
            <a:solidFill>
              <a:srgbClr val="888898"/>
            </a:solidFill>
            <a:prstDash val="solid"/>
          </a:ln>
        </p:spPr>
      </p:sp>
      <p:sp>
        <p:nvSpPr>
          <p:cNvPr id="16" name="Text 13"/>
          <p:cNvSpPr/>
          <p:nvPr/>
        </p:nvSpPr>
        <p:spPr>
          <a:xfrm>
            <a:off x="6675120" y="2743200"/>
            <a:ext cx="2011680" cy="731520"/>
          </a:xfrm>
          <a:prstGeom prst="rect">
            <a:avLst/>
          </a:prstGeom>
          <a:noFill/>
          <a:ln/>
        </p:spPr>
        <p:txBody>
          <a:bodyPr wrap="square" rtlCol="0" anchor="ctr"/>
          <a:lstStyle/>
          <a:p>
            <a:pPr algn="ctr" indent="0" marL="0">
              <a:buNone/>
            </a:pPr>
            <a:r>
              <a:rPr lang="en-US" sz="1000" dirty="0">
                <a:solidFill>
                  <a:srgbClr val="888898"/>
                </a:solidFill>
                <a:latin typeface="Calibri" pitchFamily="34" charset="0"/>
                <a:ea typeface="Calibri" pitchFamily="34" charset="-122"/>
                <a:cs typeface="Calibri" pitchFamily="34" charset="-120"/>
              </a:rPr>
              <a:t>Your router</a:t>
            </a:r>
            <a:endParaRPr lang="en-US" sz="1000" dirty="0"/>
          </a:p>
          <a:p>
            <a:pPr algn="ctr" indent="0" marL="0">
              <a:buNone/>
            </a:pPr>
            <a:r>
              <a:rPr lang="en-US" sz="1000" dirty="0">
                <a:solidFill>
                  <a:srgbClr val="888898"/>
                </a:solidFill>
                <a:latin typeface="Calibri" pitchFamily="34" charset="0"/>
                <a:ea typeface="Calibri" pitchFamily="34" charset="-122"/>
                <a:cs typeface="Calibri" pitchFamily="34" charset="-120"/>
              </a:rPr>
              <a:t>+ device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7F77DD"/>
          </a:solidFill>
          <a:ln w="12700">
            <a:solidFill>
              <a:srgbClr val="7F77DD"/>
            </a:solidFill>
            <a:prstDash val="solid"/>
          </a:ln>
        </p:spPr>
      </p:sp>
      <p:sp>
        <p:nvSpPr>
          <p:cNvPr id="3" name="Text 1"/>
          <p:cNvSpPr/>
          <p:nvPr/>
        </p:nvSpPr>
        <p:spPr>
          <a:xfrm>
            <a:off x="365760" y="1645920"/>
            <a:ext cx="8412480" cy="457200"/>
          </a:xfrm>
          <a:prstGeom prst="rect">
            <a:avLst/>
          </a:prstGeom>
          <a:noFill/>
          <a:ln/>
        </p:spPr>
        <p:txBody>
          <a:bodyPr wrap="square" rtlCol="0" anchor="ctr"/>
          <a:lstStyle/>
          <a:p>
            <a:pPr indent="0" marL="0">
              <a:buNone/>
            </a:pPr>
            <a:r>
              <a:rPr lang="en-US" sz="1300" spc="600" kern="0" dirty="0">
                <a:solidFill>
                  <a:srgbClr val="7F77DD"/>
                </a:solidFill>
                <a:latin typeface="Calibri" pitchFamily="34" charset="0"/>
                <a:ea typeface="Calibri" pitchFamily="34" charset="-122"/>
                <a:cs typeface="Calibri" pitchFamily="34" charset="-120"/>
              </a:rPr>
              <a:t>Chapter 5</a:t>
            </a:r>
            <a:endParaRPr lang="en-US" sz="1300" dirty="0"/>
          </a:p>
        </p:txBody>
      </p:sp>
      <p:sp>
        <p:nvSpPr>
          <p:cNvPr id="4" name="Text 2"/>
          <p:cNvSpPr/>
          <p:nvPr/>
        </p:nvSpPr>
        <p:spPr>
          <a:xfrm>
            <a:off x="365760" y="2011680"/>
            <a:ext cx="8412480" cy="1097280"/>
          </a:xfrm>
          <a:prstGeom prst="rect">
            <a:avLst/>
          </a:prstGeom>
          <a:noFill/>
          <a:ln/>
        </p:spPr>
        <p:txBody>
          <a:bodyPr wrap="square"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Decode &amp; Render</a:t>
            </a:r>
            <a:endParaRPr lang="en-US" sz="4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F77DD"/>
          </a:solidFill>
          <a:ln w="12700">
            <a:solidFill>
              <a:srgbClr val="7F77DD"/>
            </a:solidFill>
            <a:prstDash val="solid"/>
          </a:ln>
        </p:spPr>
      </p:sp>
      <p:sp>
        <p:nvSpPr>
          <p:cNvPr id="3" name="Text 1"/>
          <p:cNvSpPr/>
          <p:nvPr/>
        </p:nvSpPr>
        <p:spPr>
          <a:xfrm>
            <a:off x="274320" y="320040"/>
            <a:ext cx="8412480" cy="320040"/>
          </a:xfrm>
          <a:prstGeom prst="rect">
            <a:avLst/>
          </a:prstGeom>
          <a:noFill/>
          <a:ln/>
        </p:spPr>
        <p:txBody>
          <a:bodyPr wrap="square" rtlCol="0" anchor="ctr"/>
          <a:lstStyle/>
          <a:p>
            <a:pPr indent="0" marL="0">
              <a:buNone/>
            </a:pPr>
            <a:r>
              <a:rPr lang="en-US" sz="1100" b="1" spc="400" kern="0" dirty="0">
                <a:solidFill>
                  <a:srgbClr val="7F77DD"/>
                </a:solidFill>
                <a:latin typeface="Calibri" pitchFamily="34" charset="0"/>
                <a:ea typeface="Calibri" pitchFamily="34" charset="-122"/>
                <a:cs typeface="Calibri" pitchFamily="34" charset="-120"/>
              </a:rPr>
              <a:t>07 — Device Decoder</a:t>
            </a:r>
            <a:endParaRPr lang="en-US" sz="1100" dirty="0"/>
          </a:p>
        </p:txBody>
      </p:sp>
      <p:sp>
        <p:nvSpPr>
          <p:cNvPr id="4" name="Text 2"/>
          <p:cNvSpPr/>
          <p:nvPr/>
        </p:nvSpPr>
        <p:spPr>
          <a:xfrm>
            <a:off x="274320" y="640080"/>
            <a:ext cx="8595360" cy="7315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Cracking open the segments</a:t>
            </a:r>
            <a:endParaRPr lang="en-US" sz="3600" dirty="0"/>
          </a:p>
        </p:txBody>
      </p:sp>
      <p:sp>
        <p:nvSpPr>
          <p:cNvPr id="5" name="Shape 3"/>
          <p:cNvSpPr/>
          <p:nvPr/>
        </p:nvSpPr>
        <p:spPr>
          <a:xfrm>
            <a:off x="274320" y="1417320"/>
            <a:ext cx="8595360" cy="10973"/>
          </a:xfrm>
          <a:prstGeom prst="rect">
            <a:avLst/>
          </a:prstGeom>
          <a:solidFill>
            <a:srgbClr val="7F77DD">
              <a:alpha val="40000"/>
            </a:srgbClr>
          </a:solidFill>
          <a:ln w="12700">
            <a:solidFill>
              <a:srgbClr val="7F77DD"/>
            </a:solidFill>
            <a:prstDash val="solid"/>
          </a:ln>
        </p:spPr>
      </p:sp>
      <p:sp>
        <p:nvSpPr>
          <p:cNvPr id="6" name="Text 4"/>
          <p:cNvSpPr/>
          <p:nvPr/>
        </p:nvSpPr>
        <p:spPr>
          <a:xfrm>
            <a:off x="274320" y="1554480"/>
            <a:ext cx="5943600" cy="2377440"/>
          </a:xfrm>
          <a:prstGeom prst="rect">
            <a:avLst/>
          </a:prstGeom>
          <a:noFill/>
          <a:ln/>
        </p:spPr>
        <p:txBody>
          <a:bodyPr wrap="square" rtlCol="0" anchor="t"/>
          <a:lstStyle/>
          <a:p>
            <a:pPr indent="0" marL="0">
              <a:buNone/>
            </a:pPr>
            <a:r>
              <a:rPr lang="en-US" sz="1500" dirty="0">
                <a:solidFill>
                  <a:srgbClr val="E8E8F0"/>
                </a:solidFill>
                <a:latin typeface="Calibri" pitchFamily="34" charset="0"/>
                <a:ea typeface="Calibri" pitchFamily="34" charset="-122"/>
                <a:cs typeface="Calibri" pitchFamily="34" charset="-120"/>
              </a:rPr>
              <a:t>Video arrives as a stream of encrypted MPEG-DASH or HLS segments, each 2–10 seconds long. Your device decrypts each segment using the DRM key, then hardware-decodes the video. Netflix has been aggressively adopting AV1, a newer codec that achieves the same quality at roughly 20% less bandwidth than H.265.</a:t>
            </a:r>
            <a:endParaRPr lang="en-US" sz="1500" dirty="0"/>
          </a:p>
        </p:txBody>
      </p:sp>
      <p:sp>
        <p:nvSpPr>
          <p:cNvPr id="7" name="Shape 5"/>
          <p:cNvSpPr/>
          <p:nvPr/>
        </p:nvSpPr>
        <p:spPr>
          <a:xfrm>
            <a:off x="274320" y="4206240"/>
            <a:ext cx="2715768" cy="347472"/>
          </a:xfrm>
          <a:prstGeom prst="rect">
            <a:avLst/>
          </a:prstGeom>
          <a:solidFill>
            <a:srgbClr val="7F77DD">
              <a:alpha val="20000"/>
            </a:srgbClr>
          </a:solidFill>
          <a:ln w="12700">
            <a:solidFill>
              <a:srgbClr val="7F77DD"/>
            </a:solidFill>
            <a:prstDash val="solid"/>
          </a:ln>
        </p:spPr>
      </p:sp>
      <p:sp>
        <p:nvSpPr>
          <p:cNvPr id="8" name="Text 6"/>
          <p:cNvSpPr/>
          <p:nvPr/>
        </p:nvSpPr>
        <p:spPr>
          <a:xfrm>
            <a:off x="274320" y="4206240"/>
            <a:ext cx="2715768" cy="347472"/>
          </a:xfrm>
          <a:prstGeom prst="rect">
            <a:avLst/>
          </a:prstGeom>
          <a:noFill/>
          <a:ln/>
        </p:spPr>
        <p:txBody>
          <a:bodyPr wrap="square" rtlCol="0" anchor="ctr"/>
          <a:lstStyle/>
          <a:p>
            <a:pPr algn="ctr" indent="0" marL="0">
              <a:buNone/>
            </a:pPr>
            <a:r>
              <a:rPr lang="en-US" sz="1100" b="1" dirty="0">
                <a:solidFill>
                  <a:srgbClr val="7F77DD"/>
                </a:solidFill>
                <a:latin typeface="Calibri" pitchFamily="34" charset="0"/>
                <a:ea typeface="Calibri" pitchFamily="34" charset="-122"/>
                <a:cs typeface="Calibri" pitchFamily="34" charset="-120"/>
              </a:rPr>
              <a:t>H.264 / H.265 / AV1</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F77DD"/>
          </a:solidFill>
          <a:ln w="12700">
            <a:solidFill>
              <a:srgbClr val="7F77DD"/>
            </a:solidFill>
            <a:prstDash val="solid"/>
          </a:ln>
        </p:spPr>
      </p:sp>
      <p:sp>
        <p:nvSpPr>
          <p:cNvPr id="3" name="Text 1"/>
          <p:cNvSpPr/>
          <p:nvPr/>
        </p:nvSpPr>
        <p:spPr>
          <a:xfrm>
            <a:off x="274320" y="320040"/>
            <a:ext cx="8412480" cy="320040"/>
          </a:xfrm>
          <a:prstGeom prst="rect">
            <a:avLst/>
          </a:prstGeom>
          <a:noFill/>
          <a:ln/>
        </p:spPr>
        <p:txBody>
          <a:bodyPr wrap="square" rtlCol="0" anchor="ctr"/>
          <a:lstStyle/>
          <a:p>
            <a:pPr indent="0" marL="0">
              <a:buNone/>
            </a:pPr>
            <a:r>
              <a:rPr lang="en-US" sz="1100" b="1" spc="400" kern="0" dirty="0">
                <a:solidFill>
                  <a:srgbClr val="7F77DD"/>
                </a:solidFill>
                <a:latin typeface="Calibri" pitchFamily="34" charset="0"/>
                <a:ea typeface="Calibri" pitchFamily="34" charset="-122"/>
                <a:cs typeface="Calibri" pitchFamily="34" charset="-120"/>
              </a:rPr>
              <a:t>08 — Frame Buffer</a:t>
            </a:r>
            <a:endParaRPr lang="en-US" sz="1100" dirty="0"/>
          </a:p>
        </p:txBody>
      </p:sp>
      <p:sp>
        <p:nvSpPr>
          <p:cNvPr id="4" name="Text 2"/>
          <p:cNvSpPr/>
          <p:nvPr/>
        </p:nvSpPr>
        <p:spPr>
          <a:xfrm>
            <a:off x="274320" y="640080"/>
            <a:ext cx="8595360" cy="7315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The cushion</a:t>
            </a:r>
            <a:endParaRPr lang="en-US" sz="3600" dirty="0"/>
          </a:p>
        </p:txBody>
      </p:sp>
      <p:sp>
        <p:nvSpPr>
          <p:cNvPr id="5" name="Shape 3"/>
          <p:cNvSpPr/>
          <p:nvPr/>
        </p:nvSpPr>
        <p:spPr>
          <a:xfrm>
            <a:off x="274320" y="1417320"/>
            <a:ext cx="8595360" cy="10973"/>
          </a:xfrm>
          <a:prstGeom prst="rect">
            <a:avLst/>
          </a:prstGeom>
          <a:solidFill>
            <a:srgbClr val="7F77DD">
              <a:alpha val="40000"/>
            </a:srgbClr>
          </a:solidFill>
          <a:ln w="12700">
            <a:solidFill>
              <a:srgbClr val="7F77DD"/>
            </a:solidFill>
            <a:prstDash val="solid"/>
          </a:ln>
        </p:spPr>
      </p:sp>
      <p:sp>
        <p:nvSpPr>
          <p:cNvPr id="6" name="Text 4"/>
          <p:cNvSpPr/>
          <p:nvPr/>
        </p:nvSpPr>
        <p:spPr>
          <a:xfrm>
            <a:off x="274320" y="1554480"/>
            <a:ext cx="5943600" cy="2377440"/>
          </a:xfrm>
          <a:prstGeom prst="rect">
            <a:avLst/>
          </a:prstGeom>
          <a:noFill/>
          <a:ln/>
        </p:spPr>
        <p:txBody>
          <a:bodyPr wrap="square" rtlCol="0" anchor="t"/>
          <a:lstStyle/>
          <a:p>
            <a:pPr indent="0" marL="0">
              <a:buNone/>
            </a:pPr>
            <a:r>
              <a:rPr lang="en-US" sz="1500" dirty="0">
                <a:solidFill>
                  <a:srgbClr val="E8E8F0"/>
                </a:solidFill>
                <a:latin typeface="Calibri" pitchFamily="34" charset="0"/>
                <a:ea typeface="Calibri" pitchFamily="34" charset="-122"/>
                <a:cs typeface="Calibri" pitchFamily="34" charset="-120"/>
              </a:rPr>
              <a:t>Decoded frames don't go directly to your screen. They're queued in the GPU's frame buffer — a small reservoir of ready-to-display frames. This decouples decoding from display: if decoding briefly hiccups, the display keeps drawing from the buffer. This is what makes 24fps feel perfectly smooth even when network conditions fluctuate.</a:t>
            </a:r>
            <a:endParaRPr lang="en-US" sz="1500" dirty="0"/>
          </a:p>
        </p:txBody>
      </p:sp>
      <p:sp>
        <p:nvSpPr>
          <p:cNvPr id="7" name="Shape 5"/>
          <p:cNvSpPr/>
          <p:nvPr/>
        </p:nvSpPr>
        <p:spPr>
          <a:xfrm>
            <a:off x="274320" y="4206240"/>
            <a:ext cx="1645920" cy="347472"/>
          </a:xfrm>
          <a:prstGeom prst="rect">
            <a:avLst/>
          </a:prstGeom>
          <a:solidFill>
            <a:srgbClr val="7F77DD">
              <a:alpha val="20000"/>
            </a:srgbClr>
          </a:solidFill>
          <a:ln w="12700">
            <a:solidFill>
              <a:srgbClr val="7F77DD"/>
            </a:solidFill>
            <a:prstDash val="solid"/>
          </a:ln>
        </p:spPr>
      </p:sp>
      <p:sp>
        <p:nvSpPr>
          <p:cNvPr id="8" name="Text 6"/>
          <p:cNvSpPr/>
          <p:nvPr/>
        </p:nvSpPr>
        <p:spPr>
          <a:xfrm>
            <a:off x="274320" y="4206240"/>
            <a:ext cx="1645920" cy="347472"/>
          </a:xfrm>
          <a:prstGeom prst="rect">
            <a:avLst/>
          </a:prstGeom>
          <a:noFill/>
          <a:ln/>
        </p:spPr>
        <p:txBody>
          <a:bodyPr wrap="square" rtlCol="0" anchor="ctr"/>
          <a:lstStyle/>
          <a:p>
            <a:pPr algn="ctr" indent="0" marL="0">
              <a:buNone/>
            </a:pPr>
            <a:r>
              <a:rPr lang="en-US" sz="1100" b="1" dirty="0">
                <a:solidFill>
                  <a:srgbClr val="7F77DD"/>
                </a:solidFill>
                <a:latin typeface="Calibri" pitchFamily="34" charset="0"/>
                <a:ea typeface="Calibri" pitchFamily="34" charset="-122"/>
                <a:cs typeface="Calibri" pitchFamily="34" charset="-120"/>
              </a:rPr>
              <a:t>GPU memory</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7F77DD"/>
          </a:solidFill>
          <a:ln w="12700">
            <a:solidFill>
              <a:srgbClr val="7F77DD"/>
            </a:solidFill>
            <a:prstDash val="solid"/>
          </a:ln>
        </p:spPr>
      </p:sp>
      <p:sp>
        <p:nvSpPr>
          <p:cNvPr id="3" name="Text 1"/>
          <p:cNvSpPr/>
          <p:nvPr/>
        </p:nvSpPr>
        <p:spPr>
          <a:xfrm>
            <a:off x="274320" y="320040"/>
            <a:ext cx="8412480" cy="320040"/>
          </a:xfrm>
          <a:prstGeom prst="rect">
            <a:avLst/>
          </a:prstGeom>
          <a:noFill/>
          <a:ln/>
        </p:spPr>
        <p:txBody>
          <a:bodyPr wrap="square" rtlCol="0" anchor="ctr"/>
          <a:lstStyle/>
          <a:p>
            <a:pPr indent="0" marL="0">
              <a:buNone/>
            </a:pPr>
            <a:r>
              <a:rPr lang="en-US" sz="1100" b="1" spc="400" kern="0" dirty="0">
                <a:solidFill>
                  <a:srgbClr val="7F77DD"/>
                </a:solidFill>
                <a:latin typeface="Calibri" pitchFamily="34" charset="0"/>
                <a:ea typeface="Calibri" pitchFamily="34" charset="-122"/>
                <a:cs typeface="Calibri" pitchFamily="34" charset="-120"/>
              </a:rPr>
              <a:t>09 — OS Compositor</a:t>
            </a:r>
            <a:endParaRPr lang="en-US" sz="1100" dirty="0"/>
          </a:p>
        </p:txBody>
      </p:sp>
      <p:sp>
        <p:nvSpPr>
          <p:cNvPr id="4" name="Text 2"/>
          <p:cNvSpPr/>
          <p:nvPr/>
        </p:nvSpPr>
        <p:spPr>
          <a:xfrm>
            <a:off x="274320" y="640080"/>
            <a:ext cx="8595360" cy="7315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Layering the picture</a:t>
            </a:r>
            <a:endParaRPr lang="en-US" sz="3600" dirty="0"/>
          </a:p>
        </p:txBody>
      </p:sp>
      <p:sp>
        <p:nvSpPr>
          <p:cNvPr id="5" name="Shape 3"/>
          <p:cNvSpPr/>
          <p:nvPr/>
        </p:nvSpPr>
        <p:spPr>
          <a:xfrm>
            <a:off x="274320" y="1417320"/>
            <a:ext cx="8595360" cy="10973"/>
          </a:xfrm>
          <a:prstGeom prst="rect">
            <a:avLst/>
          </a:prstGeom>
          <a:solidFill>
            <a:srgbClr val="7F77DD">
              <a:alpha val="40000"/>
            </a:srgbClr>
          </a:solidFill>
          <a:ln w="12700">
            <a:solidFill>
              <a:srgbClr val="7F77DD"/>
            </a:solidFill>
            <a:prstDash val="solid"/>
          </a:ln>
        </p:spPr>
      </p:sp>
      <p:sp>
        <p:nvSpPr>
          <p:cNvPr id="6" name="Text 4"/>
          <p:cNvSpPr/>
          <p:nvPr/>
        </p:nvSpPr>
        <p:spPr>
          <a:xfrm>
            <a:off x="274320" y="1554480"/>
            <a:ext cx="5943600" cy="2377440"/>
          </a:xfrm>
          <a:prstGeom prst="rect">
            <a:avLst/>
          </a:prstGeom>
          <a:noFill/>
          <a:ln/>
        </p:spPr>
        <p:txBody>
          <a:bodyPr wrap="square" rtlCol="0" anchor="t"/>
          <a:lstStyle/>
          <a:p>
            <a:pPr indent="0" marL="0">
              <a:buNone/>
            </a:pPr>
            <a:r>
              <a:rPr lang="en-US" sz="1500" dirty="0">
                <a:solidFill>
                  <a:srgbClr val="E8E8F0"/>
                </a:solidFill>
                <a:latin typeface="Calibri" pitchFamily="34" charset="0"/>
                <a:ea typeface="Calibri" pitchFamily="34" charset="-122"/>
                <a:cs typeface="Calibri" pitchFamily="34" charset="-120"/>
              </a:rPr>
              <a:t>The OS compositor blends the video frame with the UI layer — the progress bar, subtitle text, the skip intro button, any overlays. On iOS this happens in Metal, on Windows in DirectX, on Android in Vulkan or OpenGL ES. The composited result is handed to the display driver as a single, fully-resolved image ready for the panel.</a:t>
            </a:r>
            <a:endParaRPr lang="en-US" sz="1500" dirty="0"/>
          </a:p>
        </p:txBody>
      </p:sp>
      <p:sp>
        <p:nvSpPr>
          <p:cNvPr id="7" name="Shape 5"/>
          <p:cNvSpPr/>
          <p:nvPr/>
        </p:nvSpPr>
        <p:spPr>
          <a:xfrm>
            <a:off x="274320" y="4206240"/>
            <a:ext cx="3310128" cy="347472"/>
          </a:xfrm>
          <a:prstGeom prst="rect">
            <a:avLst/>
          </a:prstGeom>
          <a:solidFill>
            <a:srgbClr val="7F77DD">
              <a:alpha val="20000"/>
            </a:srgbClr>
          </a:solidFill>
          <a:ln w="12700">
            <a:solidFill>
              <a:srgbClr val="7F77DD"/>
            </a:solidFill>
            <a:prstDash val="solid"/>
          </a:ln>
        </p:spPr>
      </p:sp>
      <p:sp>
        <p:nvSpPr>
          <p:cNvPr id="8" name="Text 6"/>
          <p:cNvSpPr/>
          <p:nvPr/>
        </p:nvSpPr>
        <p:spPr>
          <a:xfrm>
            <a:off x="274320" y="4206240"/>
            <a:ext cx="3310128" cy="347472"/>
          </a:xfrm>
          <a:prstGeom prst="rect">
            <a:avLst/>
          </a:prstGeom>
          <a:noFill/>
          <a:ln/>
        </p:spPr>
        <p:txBody>
          <a:bodyPr wrap="square" rtlCol="0" anchor="ctr"/>
          <a:lstStyle/>
          <a:p>
            <a:pPr algn="ctr" indent="0" marL="0">
              <a:buNone/>
            </a:pPr>
            <a:r>
              <a:rPr lang="en-US" sz="1100" b="1" dirty="0">
                <a:solidFill>
                  <a:srgbClr val="7F77DD"/>
                </a:solidFill>
                <a:latin typeface="Calibri" pitchFamily="34" charset="0"/>
                <a:ea typeface="Calibri" pitchFamily="34" charset="-122"/>
                <a:cs typeface="Calibri" pitchFamily="34" charset="-120"/>
              </a:rPr>
              <a:t>Metal / DirectX / Vulkan</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378ADD"/>
          </a:solidFill>
          <a:ln w="12700">
            <a:solidFill>
              <a:srgbClr val="378ADD"/>
            </a:solidFill>
            <a:prstDash val="solid"/>
          </a:ln>
        </p:spPr>
      </p:sp>
      <p:sp>
        <p:nvSpPr>
          <p:cNvPr id="3" name="Text 1"/>
          <p:cNvSpPr/>
          <p:nvPr/>
        </p:nvSpPr>
        <p:spPr>
          <a:xfrm>
            <a:off x="274320" y="320040"/>
            <a:ext cx="8412480" cy="320040"/>
          </a:xfrm>
          <a:prstGeom prst="rect">
            <a:avLst/>
          </a:prstGeom>
          <a:noFill/>
          <a:ln/>
        </p:spPr>
        <p:txBody>
          <a:bodyPr wrap="square" rtlCol="0" anchor="ctr"/>
          <a:lstStyle/>
          <a:p>
            <a:pPr indent="0" marL="0">
              <a:buNone/>
            </a:pPr>
            <a:r>
              <a:rPr lang="en-US" sz="1100" b="1" spc="400" kern="0" dirty="0">
                <a:solidFill>
                  <a:srgbClr val="378ADD"/>
                </a:solidFill>
                <a:latin typeface="Calibri" pitchFamily="34" charset="0"/>
                <a:ea typeface="Calibri" pitchFamily="34" charset="-122"/>
                <a:cs typeface="Calibri" pitchFamily="34" charset="-120"/>
              </a:rPr>
              <a:t>10 — Audio Pipeline</a:t>
            </a:r>
            <a:endParaRPr lang="en-US" sz="1100" dirty="0"/>
          </a:p>
        </p:txBody>
      </p:sp>
      <p:sp>
        <p:nvSpPr>
          <p:cNvPr id="4" name="Text 2"/>
          <p:cNvSpPr/>
          <p:nvPr/>
        </p:nvSpPr>
        <p:spPr>
          <a:xfrm>
            <a:off x="274320" y="640080"/>
            <a:ext cx="8595360" cy="7315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The other half</a:t>
            </a:r>
            <a:endParaRPr lang="en-US" sz="3600" dirty="0"/>
          </a:p>
        </p:txBody>
      </p:sp>
      <p:sp>
        <p:nvSpPr>
          <p:cNvPr id="5" name="Shape 3"/>
          <p:cNvSpPr/>
          <p:nvPr/>
        </p:nvSpPr>
        <p:spPr>
          <a:xfrm>
            <a:off x="274320" y="1417320"/>
            <a:ext cx="8595360" cy="10973"/>
          </a:xfrm>
          <a:prstGeom prst="rect">
            <a:avLst/>
          </a:prstGeom>
          <a:solidFill>
            <a:srgbClr val="378ADD">
              <a:alpha val="40000"/>
            </a:srgbClr>
          </a:solidFill>
          <a:ln w="12700">
            <a:solidFill>
              <a:srgbClr val="378ADD"/>
            </a:solidFill>
            <a:prstDash val="solid"/>
          </a:ln>
        </p:spPr>
      </p:sp>
      <p:sp>
        <p:nvSpPr>
          <p:cNvPr id="6" name="Text 4"/>
          <p:cNvSpPr/>
          <p:nvPr/>
        </p:nvSpPr>
        <p:spPr>
          <a:xfrm>
            <a:off x="274320" y="1554480"/>
            <a:ext cx="5943600" cy="2377440"/>
          </a:xfrm>
          <a:prstGeom prst="rect">
            <a:avLst/>
          </a:prstGeom>
          <a:noFill/>
          <a:ln/>
        </p:spPr>
        <p:txBody>
          <a:bodyPr wrap="square" rtlCol="0" anchor="t"/>
          <a:lstStyle/>
          <a:p>
            <a:pPr indent="0" marL="0">
              <a:buNone/>
            </a:pPr>
            <a:r>
              <a:rPr lang="en-US" sz="1500" dirty="0">
                <a:solidFill>
                  <a:srgbClr val="E8E8F0"/>
                </a:solidFill>
                <a:latin typeface="Calibri" pitchFamily="34" charset="0"/>
                <a:ea typeface="Calibri" pitchFamily="34" charset="-122"/>
                <a:cs typeface="Calibri" pitchFamily="34" charset="-120"/>
              </a:rPr>
              <a:t>While video renders, a parallel pipeline handles audio. The decoded PCM audio passes through a mixer and resampler — adjusting to your device's native sample rate. A shared A/V clock compares the video frame's presentation timestamp against the audio playback position. Even a few milliseconds of drift and you'll notice lips moving out of sync.</a:t>
            </a:r>
            <a:endParaRPr lang="en-US" sz="1500" dirty="0"/>
          </a:p>
        </p:txBody>
      </p:sp>
      <p:sp>
        <p:nvSpPr>
          <p:cNvPr id="7" name="Shape 5"/>
          <p:cNvSpPr/>
          <p:nvPr/>
        </p:nvSpPr>
        <p:spPr>
          <a:xfrm>
            <a:off x="274320" y="4206240"/>
            <a:ext cx="3191256" cy="347472"/>
          </a:xfrm>
          <a:prstGeom prst="rect">
            <a:avLst/>
          </a:prstGeom>
          <a:solidFill>
            <a:srgbClr val="378ADD">
              <a:alpha val="20000"/>
            </a:srgbClr>
          </a:solidFill>
          <a:ln w="12700">
            <a:solidFill>
              <a:srgbClr val="378ADD"/>
            </a:solidFill>
            <a:prstDash val="solid"/>
          </a:ln>
        </p:spPr>
      </p:sp>
      <p:sp>
        <p:nvSpPr>
          <p:cNvPr id="8" name="Text 6"/>
          <p:cNvSpPr/>
          <p:nvPr/>
        </p:nvSpPr>
        <p:spPr>
          <a:xfrm>
            <a:off x="274320" y="4206240"/>
            <a:ext cx="3191256" cy="347472"/>
          </a:xfrm>
          <a:prstGeom prst="rect">
            <a:avLst/>
          </a:prstGeom>
          <a:noFill/>
          <a:ln/>
        </p:spPr>
        <p:txBody>
          <a:bodyPr wrap="square" rtlCol="0" anchor="ctr"/>
          <a:lstStyle/>
          <a:p>
            <a:pPr algn="ctr" indent="0" marL="0">
              <a:buNone/>
            </a:pPr>
            <a:r>
              <a:rPr lang="en-US" sz="1100" b="1" dirty="0">
                <a:solidFill>
                  <a:srgbClr val="378ADD"/>
                </a:solidFill>
                <a:latin typeface="Calibri" pitchFamily="34" charset="0"/>
                <a:ea typeface="Calibri" pitchFamily="34" charset="-122"/>
                <a:cs typeface="Calibri" pitchFamily="34" charset="-120"/>
              </a:rPr>
              <a:t>Dolby Atmos / AAC / PCM</a:t>
            </a:r>
            <a:endParaRPr lang="en-US" sz="1100" dirty="0"/>
          </a:p>
        </p:txBody>
      </p:sp>
      <p:sp>
        <p:nvSpPr>
          <p:cNvPr id="10" name="Shape 7"/>
          <p:cNvSpPr/>
          <p:nvPr/>
        </p:nvSpPr>
        <p:spPr>
          <a:xfrm>
            <a:off x="6309360" y="914400"/>
            <a:ext cx="2651760" cy="1097280"/>
          </a:xfrm>
          <a:prstGeom prst="rect">
            <a:avLst/>
          </a:prstGeom>
          <a:solidFill>
            <a:srgbClr val="12121A"/>
          </a:solidFill>
          <a:ln w="12700">
            <a:solidFill>
              <a:srgbClr val="7F77DD"/>
            </a:solidFill>
            <a:prstDash val="solid"/>
          </a:ln>
        </p:spPr>
      </p:sp>
      <p:sp>
        <p:nvSpPr>
          <p:cNvPr id="11" name="Text 8"/>
          <p:cNvSpPr/>
          <p:nvPr/>
        </p:nvSpPr>
        <p:spPr>
          <a:xfrm>
            <a:off x="6309360" y="914400"/>
            <a:ext cx="2651760" cy="365760"/>
          </a:xfrm>
          <a:prstGeom prst="rect">
            <a:avLst/>
          </a:prstGeom>
          <a:noFill/>
          <a:ln/>
        </p:spPr>
        <p:txBody>
          <a:bodyPr wrap="square" rtlCol="0" anchor="ctr"/>
          <a:lstStyle/>
          <a:p>
            <a:pPr algn="ctr" indent="0" marL="0">
              <a:buNone/>
            </a:pPr>
            <a:r>
              <a:rPr lang="en-US" sz="1100" b="1" dirty="0">
                <a:solidFill>
                  <a:srgbClr val="AFA9EC"/>
                </a:solidFill>
                <a:latin typeface="Calibri" pitchFamily="34" charset="0"/>
                <a:ea typeface="Calibri" pitchFamily="34" charset="-122"/>
                <a:cs typeface="Calibri" pitchFamily="34" charset="-120"/>
              </a:rPr>
              <a:t>Video pipeline</a:t>
            </a:r>
            <a:endParaRPr lang="en-US" sz="1100" dirty="0"/>
          </a:p>
        </p:txBody>
      </p:sp>
      <p:sp>
        <p:nvSpPr>
          <p:cNvPr id="12" name="Text 9"/>
          <p:cNvSpPr/>
          <p:nvPr/>
        </p:nvSpPr>
        <p:spPr>
          <a:xfrm>
            <a:off x="6309360" y="1280160"/>
            <a:ext cx="2651760" cy="457200"/>
          </a:xfrm>
          <a:prstGeom prst="rect">
            <a:avLst/>
          </a:prstGeom>
          <a:noFill/>
          <a:ln/>
        </p:spPr>
        <p:txBody>
          <a:bodyPr wrap="square" rtlCol="0" anchor="ctr"/>
          <a:lstStyle/>
          <a:p>
            <a:pPr algn="ctr" indent="0" marL="0">
              <a:buNone/>
            </a:pPr>
            <a:r>
              <a:rPr lang="en-US" sz="900" dirty="0">
                <a:solidFill>
                  <a:srgbClr val="888898"/>
                </a:solidFill>
                <a:latin typeface="Calibri" pitchFamily="34" charset="0"/>
                <a:ea typeface="Calibri" pitchFamily="34" charset="-122"/>
                <a:cs typeface="Calibri" pitchFamily="34" charset="-120"/>
              </a:rPr>
              <a:t>Decode → Buffer → Composite</a:t>
            </a:r>
            <a:endParaRPr lang="en-US" sz="900" dirty="0"/>
          </a:p>
        </p:txBody>
      </p:sp>
      <p:sp>
        <p:nvSpPr>
          <p:cNvPr id="13" name="Shape 10"/>
          <p:cNvSpPr/>
          <p:nvPr/>
        </p:nvSpPr>
        <p:spPr>
          <a:xfrm>
            <a:off x="6309360" y="2286000"/>
            <a:ext cx="2651760" cy="1097280"/>
          </a:xfrm>
          <a:prstGeom prst="rect">
            <a:avLst/>
          </a:prstGeom>
          <a:solidFill>
            <a:srgbClr val="12121A"/>
          </a:solidFill>
          <a:ln w="12700">
            <a:solidFill>
              <a:srgbClr val="378ADD"/>
            </a:solidFill>
            <a:prstDash val="solid"/>
          </a:ln>
        </p:spPr>
      </p:sp>
      <p:sp>
        <p:nvSpPr>
          <p:cNvPr id="14" name="Text 11"/>
          <p:cNvSpPr/>
          <p:nvPr/>
        </p:nvSpPr>
        <p:spPr>
          <a:xfrm>
            <a:off x="6309360" y="2286000"/>
            <a:ext cx="2651760" cy="365760"/>
          </a:xfrm>
          <a:prstGeom prst="rect">
            <a:avLst/>
          </a:prstGeom>
          <a:noFill/>
          <a:ln/>
        </p:spPr>
        <p:txBody>
          <a:bodyPr wrap="square" rtlCol="0" anchor="ctr"/>
          <a:lstStyle/>
          <a:p>
            <a:pPr algn="ctr" indent="0" marL="0">
              <a:buNone/>
            </a:pPr>
            <a:r>
              <a:rPr lang="en-US" sz="1100" b="1" dirty="0">
                <a:solidFill>
                  <a:srgbClr val="85B7EB"/>
                </a:solidFill>
                <a:latin typeface="Calibri" pitchFamily="34" charset="0"/>
                <a:ea typeface="Calibri" pitchFamily="34" charset="-122"/>
                <a:cs typeface="Calibri" pitchFamily="34" charset="-120"/>
              </a:rPr>
              <a:t>Audio pipeline</a:t>
            </a:r>
            <a:endParaRPr lang="en-US" sz="1100" dirty="0"/>
          </a:p>
        </p:txBody>
      </p:sp>
      <p:sp>
        <p:nvSpPr>
          <p:cNvPr id="15" name="Text 12"/>
          <p:cNvSpPr/>
          <p:nvPr/>
        </p:nvSpPr>
        <p:spPr>
          <a:xfrm>
            <a:off x="6309360" y="2651760"/>
            <a:ext cx="2651760" cy="457200"/>
          </a:xfrm>
          <a:prstGeom prst="rect">
            <a:avLst/>
          </a:prstGeom>
          <a:noFill/>
          <a:ln/>
        </p:spPr>
        <p:txBody>
          <a:bodyPr wrap="square" rtlCol="0" anchor="ctr"/>
          <a:lstStyle/>
          <a:p>
            <a:pPr algn="ctr" indent="0" marL="0">
              <a:buNone/>
            </a:pPr>
            <a:r>
              <a:rPr lang="en-US" sz="900" dirty="0">
                <a:solidFill>
                  <a:srgbClr val="888898"/>
                </a:solidFill>
                <a:latin typeface="Calibri" pitchFamily="34" charset="0"/>
                <a:ea typeface="Calibri" pitchFamily="34" charset="-122"/>
                <a:cs typeface="Calibri" pitchFamily="34" charset="-120"/>
              </a:rPr>
              <a:t>Decode → Mix → Resample</a:t>
            </a:r>
            <a:endParaRPr lang="en-US" sz="900" dirty="0"/>
          </a:p>
        </p:txBody>
      </p:sp>
      <p:sp>
        <p:nvSpPr>
          <p:cNvPr id="16" name="Shape 13"/>
          <p:cNvSpPr/>
          <p:nvPr/>
        </p:nvSpPr>
        <p:spPr>
          <a:xfrm>
            <a:off x="6858000" y="3566160"/>
            <a:ext cx="1554480" cy="548640"/>
          </a:xfrm>
          <a:prstGeom prst="rect">
            <a:avLst/>
          </a:prstGeom>
          <a:solidFill>
            <a:srgbClr val="1A1A26"/>
          </a:solidFill>
          <a:ln w="12700">
            <a:solidFill>
              <a:srgbClr val="EF9F27"/>
            </a:solidFill>
            <a:prstDash val="solid"/>
          </a:ln>
        </p:spPr>
      </p:sp>
      <p:sp>
        <p:nvSpPr>
          <p:cNvPr id="17" name="Text 14"/>
          <p:cNvSpPr/>
          <p:nvPr/>
        </p:nvSpPr>
        <p:spPr>
          <a:xfrm>
            <a:off x="6858000" y="3566160"/>
            <a:ext cx="1554480" cy="548640"/>
          </a:xfrm>
          <a:prstGeom prst="rect">
            <a:avLst/>
          </a:prstGeom>
          <a:noFill/>
          <a:ln/>
        </p:spPr>
        <p:txBody>
          <a:bodyPr wrap="square" rtlCol="0" anchor="ctr"/>
          <a:lstStyle/>
          <a:p>
            <a:pPr algn="ctr" indent="0" marL="0">
              <a:buNone/>
            </a:pPr>
            <a:r>
              <a:rPr lang="en-US" sz="1000" b="1" dirty="0">
                <a:solidFill>
                  <a:srgbClr val="EF9F27"/>
                </a:solidFill>
                <a:latin typeface="Calibri" pitchFamily="34" charset="0"/>
                <a:ea typeface="Calibri" pitchFamily="34" charset="-122"/>
                <a:cs typeface="Calibri" pitchFamily="34" charset="-120"/>
              </a:rPr>
              <a:t>A/V clock</a:t>
            </a:r>
            <a:endParaRPr lang="en-US" sz="1000" dirty="0"/>
          </a:p>
        </p:txBody>
      </p:sp>
      <p:sp>
        <p:nvSpPr>
          <p:cNvPr id="18" name="Shape 15"/>
          <p:cNvSpPr/>
          <p:nvPr/>
        </p:nvSpPr>
        <p:spPr>
          <a:xfrm>
            <a:off x="7635240" y="2011680"/>
            <a:ext cx="0" cy="274320"/>
          </a:xfrm>
          <a:prstGeom prst="line">
            <a:avLst/>
          </a:prstGeom>
          <a:noFill/>
          <a:ln w="12700">
            <a:solidFill>
              <a:srgbClr val="EF9F27"/>
            </a:solidFill>
            <a:prstDash val="sysDot"/>
          </a:ln>
        </p:spPr>
      </p:sp>
      <p:sp>
        <p:nvSpPr>
          <p:cNvPr id="19" name="Shape 16"/>
          <p:cNvSpPr/>
          <p:nvPr/>
        </p:nvSpPr>
        <p:spPr>
          <a:xfrm>
            <a:off x="7635240" y="3383280"/>
            <a:ext cx="0" cy="182880"/>
          </a:xfrm>
          <a:prstGeom prst="line">
            <a:avLst/>
          </a:prstGeom>
          <a:noFill/>
          <a:ln w="12700">
            <a:solidFill>
              <a:srgbClr val="EF9F27"/>
            </a:solidFill>
            <a:prstDash val="sysDot"/>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378ADD"/>
          </a:solidFill>
          <a:ln w="12700">
            <a:solidFill>
              <a:srgbClr val="378ADD"/>
            </a:solidFill>
            <a:prstDash val="solid"/>
          </a:ln>
        </p:spPr>
      </p:sp>
      <p:sp>
        <p:nvSpPr>
          <p:cNvPr id="3" name="Text 1"/>
          <p:cNvSpPr/>
          <p:nvPr/>
        </p:nvSpPr>
        <p:spPr>
          <a:xfrm>
            <a:off x="274320" y="320040"/>
            <a:ext cx="8412480" cy="320040"/>
          </a:xfrm>
          <a:prstGeom prst="rect">
            <a:avLst/>
          </a:prstGeom>
          <a:noFill/>
          <a:ln/>
        </p:spPr>
        <p:txBody>
          <a:bodyPr wrap="square" rtlCol="0" anchor="ctr"/>
          <a:lstStyle/>
          <a:p>
            <a:pPr indent="0" marL="0">
              <a:buNone/>
            </a:pPr>
            <a:r>
              <a:rPr lang="en-US" sz="1100" b="1" spc="400" kern="0" dirty="0">
                <a:solidFill>
                  <a:srgbClr val="378ADD"/>
                </a:solidFill>
                <a:latin typeface="Calibri" pitchFamily="34" charset="0"/>
                <a:ea typeface="Calibri" pitchFamily="34" charset="-122"/>
                <a:cs typeface="Calibri" pitchFamily="34" charset="-120"/>
              </a:rPr>
              <a:t>11 — Display Panel + DAC</a:t>
            </a:r>
            <a:endParaRPr lang="en-US" sz="1100" dirty="0"/>
          </a:p>
        </p:txBody>
      </p:sp>
      <p:sp>
        <p:nvSpPr>
          <p:cNvPr id="4" name="Text 2"/>
          <p:cNvSpPr/>
          <p:nvPr/>
        </p:nvSpPr>
        <p:spPr>
          <a:xfrm>
            <a:off x="274320" y="640080"/>
            <a:ext cx="8595360" cy="7315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Pixels meet photons</a:t>
            </a:r>
            <a:endParaRPr lang="en-US" sz="3600" dirty="0"/>
          </a:p>
        </p:txBody>
      </p:sp>
      <p:sp>
        <p:nvSpPr>
          <p:cNvPr id="5" name="Shape 3"/>
          <p:cNvSpPr/>
          <p:nvPr/>
        </p:nvSpPr>
        <p:spPr>
          <a:xfrm>
            <a:off x="274320" y="1417320"/>
            <a:ext cx="8595360" cy="10973"/>
          </a:xfrm>
          <a:prstGeom prst="rect">
            <a:avLst/>
          </a:prstGeom>
          <a:solidFill>
            <a:srgbClr val="378ADD">
              <a:alpha val="40000"/>
            </a:srgbClr>
          </a:solidFill>
          <a:ln w="12700">
            <a:solidFill>
              <a:srgbClr val="378ADD"/>
            </a:solidFill>
            <a:prstDash val="solid"/>
          </a:ln>
        </p:spPr>
      </p:sp>
      <p:sp>
        <p:nvSpPr>
          <p:cNvPr id="6" name="Text 4"/>
          <p:cNvSpPr/>
          <p:nvPr/>
        </p:nvSpPr>
        <p:spPr>
          <a:xfrm>
            <a:off x="274320" y="1554480"/>
            <a:ext cx="5943600" cy="2377440"/>
          </a:xfrm>
          <a:prstGeom prst="rect">
            <a:avLst/>
          </a:prstGeom>
          <a:noFill/>
          <a:ln/>
        </p:spPr>
        <p:txBody>
          <a:bodyPr wrap="square" rtlCol="0" anchor="t"/>
          <a:lstStyle/>
          <a:p>
            <a:pPr indent="0" marL="0">
              <a:buNone/>
            </a:pPr>
            <a:r>
              <a:rPr lang="en-US" sz="1500" dirty="0">
                <a:solidFill>
                  <a:srgbClr val="E8E8F0"/>
                </a:solidFill>
                <a:latin typeface="Calibri" pitchFamily="34" charset="0"/>
                <a:ea typeface="Calibri" pitchFamily="34" charset="-122"/>
                <a:cs typeface="Calibri" pitchFamily="34" charset="-120"/>
              </a:rPr>
              <a:t>The display driver fires the correct pixel values to every scan line of your OLED, LCD, or HDMI-connected TV. Simultaneously, the digital audio signal hits a DAC — a digital-to-analog converter — which transforms it into electrical signals your speakers convert to actual sound waves. The stream has completed its journey.</a:t>
            </a:r>
            <a:endParaRPr lang="en-US" sz="1500" dirty="0"/>
          </a:p>
        </p:txBody>
      </p:sp>
      <p:sp>
        <p:nvSpPr>
          <p:cNvPr id="7" name="Shape 5"/>
          <p:cNvSpPr/>
          <p:nvPr/>
        </p:nvSpPr>
        <p:spPr>
          <a:xfrm>
            <a:off x="274320" y="4206240"/>
            <a:ext cx="3310128" cy="347472"/>
          </a:xfrm>
          <a:prstGeom prst="rect">
            <a:avLst/>
          </a:prstGeom>
          <a:solidFill>
            <a:srgbClr val="378ADD">
              <a:alpha val="20000"/>
            </a:srgbClr>
          </a:solidFill>
          <a:ln w="12700">
            <a:solidFill>
              <a:srgbClr val="378ADD"/>
            </a:solidFill>
            <a:prstDash val="solid"/>
          </a:ln>
        </p:spPr>
      </p:sp>
      <p:sp>
        <p:nvSpPr>
          <p:cNvPr id="8" name="Text 6"/>
          <p:cNvSpPr/>
          <p:nvPr/>
        </p:nvSpPr>
        <p:spPr>
          <a:xfrm>
            <a:off x="274320" y="4206240"/>
            <a:ext cx="3310128" cy="347472"/>
          </a:xfrm>
          <a:prstGeom prst="rect">
            <a:avLst/>
          </a:prstGeom>
          <a:noFill/>
          <a:ln/>
        </p:spPr>
        <p:txBody>
          <a:bodyPr wrap="square" rtlCol="0" anchor="ctr"/>
          <a:lstStyle/>
          <a:p>
            <a:pPr algn="ctr" indent="0" marL="0">
              <a:buNone/>
            </a:pPr>
            <a:r>
              <a:rPr lang="en-US" sz="1100" b="1" dirty="0">
                <a:solidFill>
                  <a:srgbClr val="378ADD"/>
                </a:solidFill>
                <a:latin typeface="Calibri" pitchFamily="34" charset="0"/>
                <a:ea typeface="Calibri" pitchFamily="34" charset="-122"/>
                <a:cs typeface="Calibri" pitchFamily="34" charset="-120"/>
              </a:rPr>
              <a:t>~24fps, perfectly synced</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9144000" cy="2011680"/>
          </a:xfrm>
          <a:prstGeom prst="rect">
            <a:avLst/>
          </a:prstGeom>
          <a:solidFill>
            <a:srgbClr val="12121A"/>
          </a:solidFill>
          <a:ln w="12700">
            <a:solidFill>
              <a:srgbClr val="12121A"/>
            </a:solidFill>
            <a:prstDash val="solid"/>
          </a:ln>
        </p:spPr>
      </p:sp>
      <p:sp>
        <p:nvSpPr>
          <p:cNvPr id="3" name="Text 1"/>
          <p:cNvSpPr/>
          <p:nvPr/>
        </p:nvSpPr>
        <p:spPr>
          <a:xfrm>
            <a:off x="548640" y="228600"/>
            <a:ext cx="8229600" cy="1371600"/>
          </a:xfrm>
          <a:prstGeom prst="rect">
            <a:avLst/>
          </a:prstGeom>
          <a:noFill/>
          <a:ln/>
        </p:spPr>
        <p:txBody>
          <a:bodyPr wrap="square" rtlCol="0" anchor="ctr"/>
          <a:lstStyle/>
          <a:p>
            <a:pPr indent="0" marL="0">
              <a:buNone/>
            </a:pPr>
            <a:r>
              <a:rPr lang="en-US" sz="8000" b="1" dirty="0">
                <a:solidFill>
                  <a:srgbClr val="E05A30"/>
                </a:solidFill>
                <a:latin typeface="Georgia" pitchFamily="34" charset="0"/>
                <a:ea typeface="Georgia" pitchFamily="34" charset="-122"/>
                <a:cs typeface="Georgia" pitchFamily="34" charset="-120"/>
              </a:rPr>
              <a:t>&lt; 2s</a:t>
            </a:r>
            <a:endParaRPr lang="en-US" sz="8000" dirty="0"/>
          </a:p>
        </p:txBody>
      </p:sp>
      <p:sp>
        <p:nvSpPr>
          <p:cNvPr id="4" name="Text 2"/>
          <p:cNvSpPr/>
          <p:nvPr/>
        </p:nvSpPr>
        <p:spPr>
          <a:xfrm>
            <a:off x="548640" y="1600200"/>
            <a:ext cx="8229600" cy="457200"/>
          </a:xfrm>
          <a:prstGeom prst="rect">
            <a:avLst/>
          </a:prstGeom>
          <a:noFill/>
          <a:ln/>
        </p:spPr>
        <p:txBody>
          <a:bodyPr wrap="square" rtlCol="0" anchor="ctr"/>
          <a:lstStyle/>
          <a:p>
            <a:pPr indent="0" marL="0">
              <a:buNone/>
            </a:pPr>
            <a:r>
              <a:rPr lang="en-US" sz="1300" spc="600" kern="0" dirty="0">
                <a:solidFill>
                  <a:srgbClr val="888898"/>
                </a:solidFill>
                <a:latin typeface="Calibri" pitchFamily="34" charset="0"/>
                <a:ea typeface="Calibri" pitchFamily="34" charset="-122"/>
                <a:cs typeface="Calibri" pitchFamily="34" charset="-120"/>
              </a:rPr>
              <a:t>from tap to first frame</a:t>
            </a:r>
            <a:endParaRPr lang="en-US" sz="1300" dirty="0"/>
          </a:p>
        </p:txBody>
      </p:sp>
      <p:sp>
        <p:nvSpPr>
          <p:cNvPr id="5" name="Text 3"/>
          <p:cNvSpPr/>
          <p:nvPr/>
        </p:nvSpPr>
        <p:spPr>
          <a:xfrm>
            <a:off x="548640" y="2286000"/>
            <a:ext cx="7772400" cy="1280160"/>
          </a:xfrm>
          <a:prstGeom prst="rect">
            <a:avLst/>
          </a:prstGeom>
          <a:noFill/>
          <a:ln/>
        </p:spPr>
        <p:txBody>
          <a:bodyPr wrap="square" rtlCol="0" anchor="ctr"/>
          <a:lstStyle/>
          <a:p>
            <a:pPr indent="0" marL="0">
              <a:buNone/>
            </a:pPr>
            <a:r>
              <a:rPr lang="en-US" sz="1500" dirty="0">
                <a:solidFill>
                  <a:srgbClr val="E8E8F0"/>
                </a:solidFill>
                <a:latin typeface="Calibri" pitchFamily="34" charset="0"/>
                <a:ea typeface="Calibri" pitchFamily="34" charset="-122"/>
                <a:cs typeface="Calibri" pitchFamily="34" charset="-120"/>
              </a:rPr>
              <a:t>Eleven hops. Two parallel pipelines. Cryptographic keys, a CDN inside your ISP, adaptive quality switching, and GPU decoding — all invisible, all completing before you've had time to wonder why it's taking long.</a:t>
            </a:r>
            <a:endParaRPr lang="en-US" sz="1500" dirty="0"/>
          </a:p>
        </p:txBody>
      </p:sp>
      <p:sp>
        <p:nvSpPr>
          <p:cNvPr id="6" name="Shape 4"/>
          <p:cNvSpPr/>
          <p:nvPr/>
        </p:nvSpPr>
        <p:spPr>
          <a:xfrm>
            <a:off x="457200" y="3840480"/>
            <a:ext cx="1508760" cy="457200"/>
          </a:xfrm>
          <a:prstGeom prst="rect">
            <a:avLst/>
          </a:prstGeom>
          <a:solidFill>
            <a:srgbClr val="E05A30">
              <a:alpha val="20000"/>
            </a:srgbClr>
          </a:solidFill>
          <a:ln w="12700">
            <a:solidFill>
              <a:srgbClr val="E05A30"/>
            </a:solidFill>
            <a:prstDash val="solid"/>
          </a:ln>
        </p:spPr>
      </p:sp>
      <p:sp>
        <p:nvSpPr>
          <p:cNvPr id="7" name="Text 5"/>
          <p:cNvSpPr/>
          <p:nvPr/>
        </p:nvSpPr>
        <p:spPr>
          <a:xfrm>
            <a:off x="457200" y="3840480"/>
            <a:ext cx="1508760" cy="457200"/>
          </a:xfrm>
          <a:prstGeom prst="rect">
            <a:avLst/>
          </a:prstGeom>
          <a:noFill/>
          <a:ln/>
        </p:spPr>
        <p:txBody>
          <a:bodyPr wrap="square" rtlCol="0" anchor="ctr"/>
          <a:lstStyle/>
          <a:p>
            <a:pPr algn="ctr" indent="0" marL="0">
              <a:buNone/>
            </a:pPr>
            <a:r>
              <a:rPr lang="en-US" sz="1100" b="1" dirty="0">
                <a:solidFill>
                  <a:srgbClr val="E05A30"/>
                </a:solidFill>
                <a:latin typeface="Calibri" pitchFamily="34" charset="0"/>
                <a:ea typeface="Calibri" pitchFamily="34" charset="-122"/>
                <a:cs typeface="Calibri" pitchFamily="34" charset="-120"/>
              </a:rPr>
              <a:t>Request</a:t>
            </a:r>
            <a:endParaRPr lang="en-US" sz="1100" dirty="0"/>
          </a:p>
        </p:txBody>
      </p:sp>
      <p:sp>
        <p:nvSpPr>
          <p:cNvPr id="8" name="Shape 6"/>
          <p:cNvSpPr/>
          <p:nvPr/>
        </p:nvSpPr>
        <p:spPr>
          <a:xfrm>
            <a:off x="2121408" y="3840480"/>
            <a:ext cx="1508760" cy="457200"/>
          </a:xfrm>
          <a:prstGeom prst="rect">
            <a:avLst/>
          </a:prstGeom>
          <a:solidFill>
            <a:srgbClr val="EF9F27">
              <a:alpha val="20000"/>
            </a:srgbClr>
          </a:solidFill>
          <a:ln w="12700">
            <a:solidFill>
              <a:srgbClr val="EF9F27"/>
            </a:solidFill>
            <a:prstDash val="solid"/>
          </a:ln>
        </p:spPr>
      </p:sp>
      <p:sp>
        <p:nvSpPr>
          <p:cNvPr id="9" name="Text 7"/>
          <p:cNvSpPr/>
          <p:nvPr/>
        </p:nvSpPr>
        <p:spPr>
          <a:xfrm>
            <a:off x="2121408" y="3840480"/>
            <a:ext cx="1508760" cy="457200"/>
          </a:xfrm>
          <a:prstGeom prst="rect">
            <a:avLst/>
          </a:prstGeom>
          <a:noFill/>
          <a:ln/>
        </p:spPr>
        <p:txBody>
          <a:bodyPr wrap="square" rtlCol="0" anchor="ctr"/>
          <a:lstStyle/>
          <a:p>
            <a:pPr algn="ctr" indent="0" marL="0">
              <a:buNone/>
            </a:pPr>
            <a:r>
              <a:rPr lang="en-US" sz="1100" b="1" dirty="0">
                <a:solidFill>
                  <a:srgbClr val="EF9F27"/>
                </a:solidFill>
                <a:latin typeface="Calibri" pitchFamily="34" charset="0"/>
                <a:ea typeface="Calibri" pitchFamily="34" charset="-122"/>
                <a:cs typeface="Calibri" pitchFamily="34" charset="-120"/>
              </a:rPr>
              <a:t>Identity</a:t>
            </a:r>
            <a:endParaRPr lang="en-US" sz="1100" dirty="0"/>
          </a:p>
        </p:txBody>
      </p:sp>
      <p:sp>
        <p:nvSpPr>
          <p:cNvPr id="10" name="Shape 8"/>
          <p:cNvSpPr/>
          <p:nvPr/>
        </p:nvSpPr>
        <p:spPr>
          <a:xfrm>
            <a:off x="3785616" y="3840480"/>
            <a:ext cx="1508760" cy="457200"/>
          </a:xfrm>
          <a:prstGeom prst="rect">
            <a:avLst/>
          </a:prstGeom>
          <a:solidFill>
            <a:srgbClr val="1D9E75">
              <a:alpha val="20000"/>
            </a:srgbClr>
          </a:solidFill>
          <a:ln w="12700">
            <a:solidFill>
              <a:srgbClr val="1D9E75"/>
            </a:solidFill>
            <a:prstDash val="solid"/>
          </a:ln>
        </p:spPr>
      </p:sp>
      <p:sp>
        <p:nvSpPr>
          <p:cNvPr id="11" name="Text 9"/>
          <p:cNvSpPr/>
          <p:nvPr/>
        </p:nvSpPr>
        <p:spPr>
          <a:xfrm>
            <a:off x="3785616" y="3840480"/>
            <a:ext cx="1508760" cy="457200"/>
          </a:xfrm>
          <a:prstGeom prst="rect">
            <a:avLst/>
          </a:prstGeom>
          <a:noFill/>
          <a:ln/>
        </p:spPr>
        <p:txBody>
          <a:bodyPr wrap="square" rtlCol="0" anchor="ctr"/>
          <a:lstStyle/>
          <a:p>
            <a:pPr algn="ctr" indent="0" marL="0">
              <a:buNone/>
            </a:pPr>
            <a:r>
              <a:rPr lang="en-US" sz="1100" b="1" dirty="0">
                <a:solidFill>
                  <a:srgbClr val="1D9E75"/>
                </a:solidFill>
                <a:latin typeface="Calibri" pitchFamily="34" charset="0"/>
                <a:ea typeface="Calibri" pitchFamily="34" charset="-122"/>
                <a:cs typeface="Calibri" pitchFamily="34" charset="-120"/>
              </a:rPr>
              <a:t>Decision</a:t>
            </a:r>
            <a:endParaRPr lang="en-US" sz="1100" dirty="0"/>
          </a:p>
        </p:txBody>
      </p:sp>
      <p:sp>
        <p:nvSpPr>
          <p:cNvPr id="12" name="Shape 10"/>
          <p:cNvSpPr/>
          <p:nvPr/>
        </p:nvSpPr>
        <p:spPr>
          <a:xfrm>
            <a:off x="5449824" y="3840480"/>
            <a:ext cx="1508760" cy="457200"/>
          </a:xfrm>
          <a:prstGeom prst="rect">
            <a:avLst/>
          </a:prstGeom>
          <a:solidFill>
            <a:srgbClr val="1D9E75">
              <a:alpha val="20000"/>
            </a:srgbClr>
          </a:solidFill>
          <a:ln w="12700">
            <a:solidFill>
              <a:srgbClr val="1D9E75"/>
            </a:solidFill>
            <a:prstDash val="solid"/>
          </a:ln>
        </p:spPr>
      </p:sp>
      <p:sp>
        <p:nvSpPr>
          <p:cNvPr id="13" name="Text 11"/>
          <p:cNvSpPr/>
          <p:nvPr/>
        </p:nvSpPr>
        <p:spPr>
          <a:xfrm>
            <a:off x="5449824" y="3840480"/>
            <a:ext cx="1508760" cy="457200"/>
          </a:xfrm>
          <a:prstGeom prst="rect">
            <a:avLst/>
          </a:prstGeom>
          <a:noFill/>
          <a:ln/>
        </p:spPr>
        <p:txBody>
          <a:bodyPr wrap="square" rtlCol="0" anchor="ctr"/>
          <a:lstStyle/>
          <a:p>
            <a:pPr algn="ctr" indent="0" marL="0">
              <a:buNone/>
            </a:pPr>
            <a:r>
              <a:rPr lang="en-US" sz="1100" b="1" dirty="0">
                <a:solidFill>
                  <a:srgbClr val="1D9E75"/>
                </a:solidFill>
                <a:latin typeface="Calibri" pitchFamily="34" charset="0"/>
                <a:ea typeface="Calibri" pitchFamily="34" charset="-122"/>
                <a:cs typeface="Calibri" pitchFamily="34" charset="-120"/>
              </a:rPr>
              <a:t>Delivery</a:t>
            </a:r>
            <a:endParaRPr lang="en-US" sz="1100" dirty="0"/>
          </a:p>
        </p:txBody>
      </p:sp>
      <p:sp>
        <p:nvSpPr>
          <p:cNvPr id="14" name="Shape 12"/>
          <p:cNvSpPr/>
          <p:nvPr/>
        </p:nvSpPr>
        <p:spPr>
          <a:xfrm>
            <a:off x="7114032" y="3840480"/>
            <a:ext cx="1508760" cy="457200"/>
          </a:xfrm>
          <a:prstGeom prst="rect">
            <a:avLst/>
          </a:prstGeom>
          <a:solidFill>
            <a:srgbClr val="7F77DD">
              <a:alpha val="20000"/>
            </a:srgbClr>
          </a:solidFill>
          <a:ln w="12700">
            <a:solidFill>
              <a:srgbClr val="7F77DD"/>
            </a:solidFill>
            <a:prstDash val="solid"/>
          </a:ln>
        </p:spPr>
      </p:sp>
      <p:sp>
        <p:nvSpPr>
          <p:cNvPr id="15" name="Text 13"/>
          <p:cNvSpPr/>
          <p:nvPr/>
        </p:nvSpPr>
        <p:spPr>
          <a:xfrm>
            <a:off x="7114032" y="3840480"/>
            <a:ext cx="1508760" cy="457200"/>
          </a:xfrm>
          <a:prstGeom prst="rect">
            <a:avLst/>
          </a:prstGeom>
          <a:noFill/>
          <a:ln/>
        </p:spPr>
        <p:txBody>
          <a:bodyPr wrap="square" rtlCol="0" anchor="ctr"/>
          <a:lstStyle/>
          <a:p>
            <a:pPr algn="ctr" indent="0" marL="0">
              <a:buNone/>
            </a:pPr>
            <a:r>
              <a:rPr lang="en-US" sz="1100" b="1" dirty="0">
                <a:solidFill>
                  <a:srgbClr val="7F77DD"/>
                </a:solidFill>
                <a:latin typeface="Calibri" pitchFamily="34" charset="0"/>
                <a:ea typeface="Calibri" pitchFamily="34" charset="-122"/>
                <a:cs typeface="Calibri" pitchFamily="34" charset="-120"/>
              </a:rPr>
              <a:t>Render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Journey of a Netflix Stream</dc:title>
  <dc:subject>PptxGenJS Presentation</dc:subject>
  <dc:creator>Visual Story</dc:creator>
  <cp:lastModifiedBy>Visual Story</cp:lastModifiedBy>
  <cp:revision>1</cp:revision>
  <dcterms:created xsi:type="dcterms:W3CDTF">2026-04-16T03:06:03Z</dcterms:created>
  <dcterms:modified xsi:type="dcterms:W3CDTF">2026-04-16T03:06:03Z</dcterms:modified>
</cp:coreProperties>
</file>