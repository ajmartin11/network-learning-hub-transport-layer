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61" r:id="rId7"/>
    <p:sldId id="264" r:id="rId10"/>
    <p:sldId id="266" r:id="rId12"/>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6.xml"/><Relationship Id="rId10" Type="http://schemas.openxmlformats.org/officeDocument/2006/relationships/slide" Target="slides/slide9.xml"/><Relationship Id="rId12" Type="http://schemas.openxmlformats.org/officeDocument/2006/relationships/slide" Target="slides/slide11.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walks through the complete technical journey of a Netflix stream — from the moment a viewer taps play to the pixels appearing on their screen. The entire process completes in under two seconds. We'll cover eleven distinct hops across five chapters: the request, identity and rights, the decision, delivery, and decode &amp;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you tap that play button, your device doesn't just start downloading video. It first has to negotiate with Netflix's servers. The app sends an authenticated request — think of it like showing your ticket before entering. The token proves you're logged in, and TLS ensures no one can intercept it in transit. This round-trip to the gateway typically takes under 20 milliseconds on a good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Authentication is more than just 'are you logged in.' Netflix has to check your plan — are you on Standard or Premium? Can you watch in 4K? How many simultaneous streams does your plan allow? Are you in a region where this title is licensed? All of these checks happen at this step, before Netflix commits to serving you anything. It's a fast lookup but it's carrying a lot of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any video data moves, Netflix has already decided what it's going to send you. The playback API is essentially a smart routing and configuration step. If you're on a 4K OLED TV with a fast connection, it'll point you at a 4K AV1 stream on the nearest CDN node. If you're on a three-year-old phone on a middling WiFi network, it'll choose a lower starting quality and a codec your device can decode efficiently. All of this happens invisibly before playback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Open Connect is perhaps Netflix's most strategically important infrastructure investment. By placing servers inside ISPs, Netflix doesn't have to pay for the transit between its origin servers and the ISP's network — the ISP gets better quality video for its customers, Netflix gets lower delivery costs. Win-win. During peak hours, an estimated 30 to 40 percent of downstream internet traffic in North America is Netflix. Open Connect is how they handle that scale without collapsing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under two seconds, a request becomes a stream. Eleven distinct technical steps, two parallel pipelines for video and audio, a custom CDN that lives inside your ISP, hardware decode chips, DRM licenses, and an A/V clock keeping everything synchronized. The next time someone's video just... starts — that's what happened.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12121A"/>
          </a:solidFill>
          <a:ln w="12700">
            <a:solidFill>
              <a:srgbClr val="12121A"/>
            </a:solidFill>
            <a:prstDash val="solid"/>
          </a:ln>
        </p:spPr>
      </p:sp>
      <p:sp>
        <p:nvSpPr>
          <p:cNvPr id="3" name="Shape 1"/>
          <p:cNvSpPr/>
          <p:nvPr/>
        </p:nvSpPr>
        <p:spPr>
          <a:xfrm>
            <a:off x="0" y="1280160"/>
            <a:ext cx="9144000" cy="36576"/>
          </a:xfrm>
          <a:prstGeom prst="rect">
            <a:avLst/>
          </a:prstGeom>
          <a:solidFill>
            <a:srgbClr val="E05A30">
              <a:alpha val="60000"/>
            </a:srgbClr>
          </a:solidFill>
          <a:ln w="12700">
            <a:solidFill>
              <a:srgbClr val="E05A30"/>
            </a:solidFill>
            <a:prstDash val="solid"/>
          </a:ln>
        </p:spPr>
      </p:sp>
      <p:sp>
        <p:nvSpPr>
          <p:cNvPr id="4" name="Text 2"/>
          <p:cNvSpPr/>
          <p:nvPr/>
        </p:nvSpPr>
        <p:spPr>
          <a:xfrm>
            <a:off x="548640" y="274320"/>
            <a:ext cx="8046720" cy="457200"/>
          </a:xfrm>
          <a:prstGeom prst="rect">
            <a:avLst/>
          </a:prstGeom>
          <a:noFill/>
          <a:ln/>
        </p:spPr>
        <p:txBody>
          <a:bodyPr wrap="square" rtlCol="0" anchor="ctr"/>
          <a:lstStyle/>
          <a:p>
            <a:pPr indent="0" marL="0">
              <a:buNone/>
            </a:pPr>
            <a:r>
              <a:rPr lang="en-US" sz="1200" b="1" spc="800" kern="0" dirty="0">
                <a:solidFill>
                  <a:srgbClr val="E05A30"/>
                </a:solidFill>
                <a:latin typeface="Calibri" pitchFamily="34" charset="0"/>
                <a:ea typeface="Calibri" pitchFamily="34" charset="-122"/>
                <a:cs typeface="Calibri" pitchFamily="34" charset="-120"/>
              </a:rPr>
              <a:t>A Visual Story</a:t>
            </a:r>
            <a:endParaRPr lang="en-US" sz="1200" dirty="0"/>
          </a:p>
        </p:txBody>
      </p:sp>
      <p:sp>
        <p:nvSpPr>
          <p:cNvPr id="5" name="Text 3"/>
          <p:cNvSpPr/>
          <p:nvPr/>
        </p:nvSpPr>
        <p:spPr>
          <a:xfrm>
            <a:off x="548640" y="1463040"/>
            <a:ext cx="8229600" cy="137160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The Journey of a Netflix Stream</a:t>
            </a:r>
            <a:endParaRPr lang="en-US" sz="4400" dirty="0"/>
          </a:p>
        </p:txBody>
      </p:sp>
      <p:sp>
        <p:nvSpPr>
          <p:cNvPr id="6" name="Text 4"/>
          <p:cNvSpPr/>
          <p:nvPr/>
        </p:nvSpPr>
        <p:spPr>
          <a:xfrm>
            <a:off x="548640" y="3017520"/>
            <a:ext cx="7680960" cy="914400"/>
          </a:xfrm>
          <a:prstGeom prst="rect">
            <a:avLst/>
          </a:prstGeom>
          <a:noFill/>
          <a:ln/>
        </p:spPr>
        <p:txBody>
          <a:bodyPr wrap="square" rtlCol="0" anchor="ctr"/>
          <a:lstStyle/>
          <a:p>
            <a:pPr indent="0" marL="0">
              <a:buNone/>
            </a:pPr>
            <a:r>
              <a:rPr lang="en-US" sz="1500" dirty="0">
                <a:solidFill>
                  <a:srgbClr val="888898"/>
                </a:solidFill>
                <a:latin typeface="Calibri" pitchFamily="34" charset="0"/>
                <a:ea typeface="Calibri" pitchFamily="34" charset="-122"/>
                <a:cs typeface="Calibri" pitchFamily="34" charset="-120"/>
              </a:rPr>
              <a:t>From the moment you tap play to the first pixel on your screen —</a:t>
            </a:r>
            <a:endParaRPr lang="en-US" sz="1500" dirty="0"/>
          </a:p>
          <a:p>
            <a:pPr indent="0" marL="0">
              <a:buNone/>
            </a:pPr>
            <a:r>
              <a:rPr lang="en-US" sz="1500" dirty="0">
                <a:solidFill>
                  <a:srgbClr val="888898"/>
                </a:solidFill>
                <a:latin typeface="Calibri" pitchFamily="34" charset="0"/>
                <a:ea typeface="Calibri" pitchFamily="34" charset="-122"/>
                <a:cs typeface="Calibri" pitchFamily="34" charset="-120"/>
              </a:rPr>
              <a:t>every hop, handshake, and handoff in under two seconds.</a:t>
            </a:r>
            <a:endParaRPr lang="en-US" sz="1500" dirty="0"/>
          </a:p>
        </p:txBody>
      </p:sp>
      <p:sp>
        <p:nvSpPr>
          <p:cNvPr id="7" name="Shape 5"/>
          <p:cNvSpPr/>
          <p:nvPr/>
        </p:nvSpPr>
        <p:spPr>
          <a:xfrm>
            <a:off x="548640" y="4160520"/>
            <a:ext cx="2560320" cy="685800"/>
          </a:xfrm>
          <a:prstGeom prst="rect">
            <a:avLst/>
          </a:prstGeom>
          <a:solidFill>
            <a:srgbClr val="12121A"/>
          </a:solidFill>
          <a:ln w="12700">
            <a:solidFill>
              <a:srgbClr val="E05A30"/>
            </a:solidFill>
            <a:prstDash val="solid"/>
          </a:ln>
        </p:spPr>
      </p:sp>
      <p:sp>
        <p:nvSpPr>
          <p:cNvPr id="8" name="Text 6"/>
          <p:cNvSpPr/>
          <p:nvPr/>
        </p:nvSpPr>
        <p:spPr>
          <a:xfrm>
            <a:off x="548640" y="4160520"/>
            <a:ext cx="1097280" cy="685800"/>
          </a:xfrm>
          <a:prstGeom prst="rect">
            <a:avLst/>
          </a:prstGeom>
          <a:noFill/>
          <a:ln/>
        </p:spPr>
        <p:txBody>
          <a:bodyPr wrap="square" rtlCol="0" anchor="ctr"/>
          <a:lstStyle/>
          <a:p>
            <a:pPr algn="ctr" indent="0" marL="0">
              <a:buNone/>
            </a:pPr>
            <a:r>
              <a:rPr lang="en-US" sz="2200" b="1" dirty="0">
                <a:solidFill>
                  <a:srgbClr val="E05A30"/>
                </a:solidFill>
                <a:latin typeface="Georgia" pitchFamily="34" charset="0"/>
                <a:ea typeface="Georgia" pitchFamily="34" charset="-122"/>
                <a:cs typeface="Georgia" pitchFamily="34" charset="-120"/>
              </a:rPr>
              <a:t>&lt;2s</a:t>
            </a:r>
            <a:endParaRPr lang="en-US" sz="2200" dirty="0"/>
          </a:p>
        </p:txBody>
      </p:sp>
      <p:sp>
        <p:nvSpPr>
          <p:cNvPr id="9" name="Text 7"/>
          <p:cNvSpPr/>
          <p:nvPr/>
        </p:nvSpPr>
        <p:spPr>
          <a:xfrm>
            <a:off x="1645920" y="4160520"/>
            <a:ext cx="1463040" cy="685800"/>
          </a:xfrm>
          <a:prstGeom prst="rect">
            <a:avLst/>
          </a:prstGeom>
          <a:noFill/>
          <a:ln/>
        </p:spPr>
        <p:txBody>
          <a:bodyPr wrap="square" rtlCol="0" anchor="ctr"/>
          <a:lstStyle/>
          <a:p>
            <a:pPr indent="0" marL="0">
              <a:buNone/>
            </a:pPr>
            <a:r>
              <a:rPr lang="en-US" sz="1000" dirty="0">
                <a:solidFill>
                  <a:srgbClr val="888898"/>
                </a:solidFill>
                <a:latin typeface="Calibri" pitchFamily="34" charset="0"/>
                <a:ea typeface="Calibri" pitchFamily="34" charset="-122"/>
                <a:cs typeface="Calibri" pitchFamily="34" charset="-120"/>
              </a:rPr>
              <a:t>tap to first frame</a:t>
            </a:r>
            <a:endParaRPr lang="en-US" sz="1000" dirty="0"/>
          </a:p>
        </p:txBody>
      </p:sp>
      <p:sp>
        <p:nvSpPr>
          <p:cNvPr id="10" name="Shape 8"/>
          <p:cNvSpPr/>
          <p:nvPr/>
        </p:nvSpPr>
        <p:spPr>
          <a:xfrm>
            <a:off x="3383280" y="4160520"/>
            <a:ext cx="2560320" cy="685800"/>
          </a:xfrm>
          <a:prstGeom prst="rect">
            <a:avLst/>
          </a:prstGeom>
          <a:solidFill>
            <a:srgbClr val="12121A"/>
          </a:solidFill>
          <a:ln w="12700">
            <a:solidFill>
              <a:srgbClr val="7F77DD"/>
            </a:solidFill>
            <a:prstDash val="solid"/>
          </a:ln>
        </p:spPr>
      </p:sp>
      <p:sp>
        <p:nvSpPr>
          <p:cNvPr id="11" name="Text 9"/>
          <p:cNvSpPr/>
          <p:nvPr/>
        </p:nvSpPr>
        <p:spPr>
          <a:xfrm>
            <a:off x="3383280" y="4160520"/>
            <a:ext cx="1097280" cy="685800"/>
          </a:xfrm>
          <a:prstGeom prst="rect">
            <a:avLst/>
          </a:prstGeom>
          <a:noFill/>
          <a:ln/>
        </p:spPr>
        <p:txBody>
          <a:bodyPr wrap="square" rtlCol="0" anchor="ctr"/>
          <a:lstStyle/>
          <a:p>
            <a:pPr algn="ctr" indent="0" marL="0">
              <a:buNone/>
            </a:pPr>
            <a:r>
              <a:rPr lang="en-US" sz="2200" b="1" dirty="0">
                <a:solidFill>
                  <a:srgbClr val="7F77DD"/>
                </a:solidFill>
                <a:latin typeface="Georgia" pitchFamily="34" charset="0"/>
                <a:ea typeface="Georgia" pitchFamily="34" charset="-122"/>
                <a:cs typeface="Georgia" pitchFamily="34" charset="-120"/>
              </a:rPr>
              <a:t>11</a:t>
            </a:r>
            <a:endParaRPr lang="en-US" sz="2200" dirty="0"/>
          </a:p>
        </p:txBody>
      </p:sp>
      <p:sp>
        <p:nvSpPr>
          <p:cNvPr id="12" name="Text 10"/>
          <p:cNvSpPr/>
          <p:nvPr/>
        </p:nvSpPr>
        <p:spPr>
          <a:xfrm>
            <a:off x="4480560" y="4160520"/>
            <a:ext cx="1463040" cy="685800"/>
          </a:xfrm>
          <a:prstGeom prst="rect">
            <a:avLst/>
          </a:prstGeom>
          <a:noFill/>
          <a:ln/>
        </p:spPr>
        <p:txBody>
          <a:bodyPr wrap="square" rtlCol="0" anchor="ctr"/>
          <a:lstStyle/>
          <a:p>
            <a:pPr indent="0" marL="0">
              <a:buNone/>
            </a:pPr>
            <a:r>
              <a:rPr lang="en-US" sz="1000" dirty="0">
                <a:solidFill>
                  <a:srgbClr val="888898"/>
                </a:solidFill>
                <a:latin typeface="Calibri" pitchFamily="34" charset="0"/>
                <a:ea typeface="Calibri" pitchFamily="34" charset="-122"/>
                <a:cs typeface="Calibri" pitchFamily="34" charset="-120"/>
              </a:rPr>
              <a:t>hops in the chain</a:t>
            </a:r>
            <a:endParaRPr lang="en-US" sz="1000" dirty="0"/>
          </a:p>
        </p:txBody>
      </p:sp>
      <p:sp>
        <p:nvSpPr>
          <p:cNvPr id="13" name="Shape 11"/>
          <p:cNvSpPr/>
          <p:nvPr/>
        </p:nvSpPr>
        <p:spPr>
          <a:xfrm>
            <a:off x="6217920" y="4160520"/>
            <a:ext cx="2560320" cy="685800"/>
          </a:xfrm>
          <a:prstGeom prst="rect">
            <a:avLst/>
          </a:prstGeom>
          <a:solidFill>
            <a:srgbClr val="12121A"/>
          </a:solidFill>
          <a:ln w="12700">
            <a:solidFill>
              <a:srgbClr val="1D9E75"/>
            </a:solidFill>
            <a:prstDash val="solid"/>
          </a:ln>
        </p:spPr>
      </p:sp>
      <p:sp>
        <p:nvSpPr>
          <p:cNvPr id="14" name="Text 12"/>
          <p:cNvSpPr/>
          <p:nvPr/>
        </p:nvSpPr>
        <p:spPr>
          <a:xfrm>
            <a:off x="6217920" y="4160520"/>
            <a:ext cx="1097280" cy="685800"/>
          </a:xfrm>
          <a:prstGeom prst="rect">
            <a:avLst/>
          </a:prstGeom>
          <a:noFill/>
          <a:ln/>
        </p:spPr>
        <p:txBody>
          <a:bodyPr wrap="square" rtlCol="0" anchor="ctr"/>
          <a:lstStyle/>
          <a:p>
            <a:pPr algn="ctr" indent="0" marL="0">
              <a:buNone/>
            </a:pPr>
            <a:r>
              <a:rPr lang="en-US" sz="2200" b="1" dirty="0">
                <a:solidFill>
                  <a:srgbClr val="1D9E75"/>
                </a:solidFill>
                <a:latin typeface="Georgia" pitchFamily="34" charset="0"/>
                <a:ea typeface="Georgia" pitchFamily="34" charset="-122"/>
                <a:cs typeface="Georgia" pitchFamily="34" charset="-120"/>
              </a:rPr>
              <a:t>200+</a:t>
            </a:r>
            <a:endParaRPr lang="en-US" sz="2200" dirty="0"/>
          </a:p>
        </p:txBody>
      </p:sp>
      <p:sp>
        <p:nvSpPr>
          <p:cNvPr id="15" name="Text 13"/>
          <p:cNvSpPr/>
          <p:nvPr/>
        </p:nvSpPr>
        <p:spPr>
          <a:xfrm>
            <a:off x="7315200" y="4160520"/>
            <a:ext cx="1463040" cy="685800"/>
          </a:xfrm>
          <a:prstGeom prst="rect">
            <a:avLst/>
          </a:prstGeom>
          <a:noFill/>
          <a:ln/>
        </p:spPr>
        <p:txBody>
          <a:bodyPr wrap="square" rtlCol="0" anchor="ctr"/>
          <a:lstStyle/>
          <a:p>
            <a:pPr indent="0" marL="0">
              <a:buNone/>
            </a:pPr>
            <a:r>
              <a:rPr lang="en-US" sz="1000" dirty="0">
                <a:solidFill>
                  <a:srgbClr val="888898"/>
                </a:solidFill>
                <a:latin typeface="Calibri" pitchFamily="34" charset="0"/>
                <a:ea typeface="Calibri" pitchFamily="34" charset="-122"/>
                <a:cs typeface="Calibri" pitchFamily="34" charset="-120"/>
              </a:rPr>
              <a:t>countries on CDN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05A30"/>
          </a:solidFill>
          <a:ln w="12700">
            <a:solidFill>
              <a:srgbClr val="E05A30"/>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E05A30"/>
                </a:solidFill>
                <a:latin typeface="Calibri" pitchFamily="34" charset="0"/>
                <a:ea typeface="Calibri" pitchFamily="34" charset="-122"/>
                <a:cs typeface="Calibri" pitchFamily="34" charset="-120"/>
              </a:rPr>
              <a:t>01 — Your Device</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You tap play</a:t>
            </a:r>
            <a:endParaRPr lang="en-US" sz="3600" dirty="0"/>
          </a:p>
        </p:txBody>
      </p:sp>
      <p:sp>
        <p:nvSpPr>
          <p:cNvPr id="5" name="Shape 3"/>
          <p:cNvSpPr/>
          <p:nvPr/>
        </p:nvSpPr>
        <p:spPr>
          <a:xfrm>
            <a:off x="274320" y="1417320"/>
            <a:ext cx="8595360" cy="10973"/>
          </a:xfrm>
          <a:prstGeom prst="rect">
            <a:avLst/>
          </a:prstGeom>
          <a:solidFill>
            <a:srgbClr val="E05A30">
              <a:alpha val="40000"/>
            </a:srgbClr>
          </a:solidFill>
          <a:ln w="12700">
            <a:solidFill>
              <a:srgbClr val="E05A30"/>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The moment you press play, the Netflix app constructs an HTTPS request carrying your session token and account credentials. This request travels over TLS 1.3, encrypted end-to-end, and is routed toward the nearest API gateway — often reaching it in single-digit milliseconds.</a:t>
            </a:r>
            <a:endParaRPr lang="en-US" sz="1500" dirty="0"/>
          </a:p>
        </p:txBody>
      </p:sp>
      <p:sp>
        <p:nvSpPr>
          <p:cNvPr id="7" name="Shape 5"/>
          <p:cNvSpPr/>
          <p:nvPr/>
        </p:nvSpPr>
        <p:spPr>
          <a:xfrm>
            <a:off x="274320" y="4206240"/>
            <a:ext cx="2240280" cy="347472"/>
          </a:xfrm>
          <a:prstGeom prst="rect">
            <a:avLst/>
          </a:prstGeom>
          <a:solidFill>
            <a:srgbClr val="E05A30">
              <a:alpha val="20000"/>
            </a:srgbClr>
          </a:solidFill>
          <a:ln w="12700">
            <a:solidFill>
              <a:srgbClr val="E05A30"/>
            </a:solidFill>
            <a:prstDash val="solid"/>
          </a:ln>
        </p:spPr>
      </p:sp>
      <p:sp>
        <p:nvSpPr>
          <p:cNvPr id="8" name="Text 6"/>
          <p:cNvSpPr/>
          <p:nvPr/>
        </p:nvSpPr>
        <p:spPr>
          <a:xfrm>
            <a:off x="274320" y="4206240"/>
            <a:ext cx="2240280" cy="347472"/>
          </a:xfrm>
          <a:prstGeom prst="rect">
            <a:avLst/>
          </a:prstGeom>
          <a:noFill/>
          <a:ln/>
        </p:spPr>
        <p:txBody>
          <a:bodyPr wrap="square" rtlCol="0" anchor="ctr"/>
          <a:lstStyle/>
          <a:p>
            <a:pPr algn="ctr" indent="0" marL="0">
              <a:buNone/>
            </a:pPr>
            <a:r>
              <a:rPr lang="en-US" sz="1100" b="1" dirty="0">
                <a:solidFill>
                  <a:srgbClr val="E05A30"/>
                </a:solidFill>
                <a:latin typeface="Calibri" pitchFamily="34" charset="0"/>
                <a:ea typeface="Calibri" pitchFamily="34" charset="-122"/>
                <a:cs typeface="Calibri" pitchFamily="34" charset="-120"/>
              </a:rPr>
              <a:t>HTTPS / TLS 1.3</a:t>
            </a:r>
            <a:endParaRPr lang="en-US" sz="1100" dirty="0"/>
          </a:p>
        </p:txBody>
      </p:sp>
      <p:sp>
        <p:nvSpPr>
          <p:cNvPr id="10" name="Shape 7"/>
          <p:cNvSpPr/>
          <p:nvPr/>
        </p:nvSpPr>
        <p:spPr>
          <a:xfrm>
            <a:off x="6492240" y="914400"/>
            <a:ext cx="2286000" cy="1371600"/>
          </a:xfrm>
          <a:prstGeom prst="rect">
            <a:avLst/>
          </a:prstGeom>
          <a:solidFill>
            <a:srgbClr val="12121A"/>
          </a:solidFill>
          <a:ln w="12700">
            <a:solidFill>
              <a:srgbClr val="E05A30"/>
            </a:solidFill>
            <a:prstDash val="solid"/>
          </a:ln>
        </p:spPr>
      </p:sp>
      <p:sp>
        <p:nvSpPr>
          <p:cNvPr id="11" name="Text 8"/>
          <p:cNvSpPr/>
          <p:nvPr/>
        </p:nvSpPr>
        <p:spPr>
          <a:xfrm>
            <a:off x="6492240" y="914400"/>
            <a:ext cx="2286000" cy="457200"/>
          </a:xfrm>
          <a:prstGeom prst="rect">
            <a:avLst/>
          </a:prstGeom>
          <a:noFill/>
          <a:ln/>
        </p:spPr>
        <p:txBody>
          <a:bodyPr wrap="square" rtlCol="0" anchor="ctr"/>
          <a:lstStyle/>
          <a:p>
            <a:pPr algn="ctr" indent="0" marL="0">
              <a:buNone/>
            </a:pPr>
            <a:r>
              <a:rPr lang="en-US" sz="1100" b="1" dirty="0">
                <a:solidFill>
                  <a:srgbClr val="F0997B"/>
                </a:solidFill>
                <a:latin typeface="Calibri" pitchFamily="34" charset="0"/>
                <a:ea typeface="Calibri" pitchFamily="34" charset="-122"/>
                <a:cs typeface="Calibri" pitchFamily="34" charset="-120"/>
              </a:rPr>
              <a:t>Device</a:t>
            </a:r>
            <a:endParaRPr lang="en-US" sz="1100" dirty="0"/>
          </a:p>
        </p:txBody>
      </p:sp>
      <p:sp>
        <p:nvSpPr>
          <p:cNvPr id="12" name="Text 9"/>
          <p:cNvSpPr/>
          <p:nvPr/>
        </p:nvSpPr>
        <p:spPr>
          <a:xfrm>
            <a:off x="6492240" y="1325880"/>
            <a:ext cx="2286000" cy="64008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session token</a:t>
            </a:r>
            <a:endParaRPr lang="en-US" sz="1000" dirty="0"/>
          </a:p>
          <a:p>
            <a:pPr algn="ctr" indent="0" marL="0">
              <a:buNone/>
            </a:pPr>
            <a:r>
              <a:rPr lang="en-US" sz="1000" dirty="0">
                <a:solidFill>
                  <a:srgbClr val="888898"/>
                </a:solidFill>
                <a:latin typeface="Calibri" pitchFamily="34" charset="0"/>
                <a:ea typeface="Calibri" pitchFamily="34" charset="-122"/>
                <a:cs typeface="Calibri" pitchFamily="34" charset="-120"/>
              </a:rPr>
              <a:t>+ credentials</a:t>
            </a:r>
            <a:endParaRPr lang="en-US" sz="1000" dirty="0"/>
          </a:p>
        </p:txBody>
      </p:sp>
      <p:sp>
        <p:nvSpPr>
          <p:cNvPr id="13" name="Shape 10"/>
          <p:cNvSpPr/>
          <p:nvPr/>
        </p:nvSpPr>
        <p:spPr>
          <a:xfrm>
            <a:off x="6492240" y="2743200"/>
            <a:ext cx="2286000" cy="1371600"/>
          </a:xfrm>
          <a:prstGeom prst="rect">
            <a:avLst/>
          </a:prstGeom>
          <a:solidFill>
            <a:srgbClr val="12121A"/>
          </a:solidFill>
          <a:ln w="12700">
            <a:solidFill>
              <a:srgbClr val="888780"/>
            </a:solidFill>
            <a:prstDash val="solid"/>
          </a:ln>
        </p:spPr>
      </p:sp>
      <p:sp>
        <p:nvSpPr>
          <p:cNvPr id="14" name="Text 11"/>
          <p:cNvSpPr/>
          <p:nvPr/>
        </p:nvSpPr>
        <p:spPr>
          <a:xfrm>
            <a:off x="6492240" y="2743200"/>
            <a:ext cx="2286000" cy="457200"/>
          </a:xfrm>
          <a:prstGeom prst="rect">
            <a:avLst/>
          </a:prstGeom>
          <a:noFill/>
          <a:ln/>
        </p:spPr>
        <p:txBody>
          <a:bodyPr wrap="square" rtlCol="0" anchor="ctr"/>
          <a:lstStyle/>
          <a:p>
            <a:pPr algn="ctr" indent="0" marL="0">
              <a:buNone/>
            </a:pPr>
            <a:r>
              <a:rPr lang="en-US" sz="1100" b="1" dirty="0">
                <a:solidFill>
                  <a:srgbClr val="888898"/>
                </a:solidFill>
                <a:latin typeface="Calibri" pitchFamily="34" charset="0"/>
                <a:ea typeface="Calibri" pitchFamily="34" charset="-122"/>
                <a:cs typeface="Calibri" pitchFamily="34" charset="-120"/>
              </a:rPr>
              <a:t>API Gateway</a:t>
            </a:r>
            <a:endParaRPr lang="en-US" sz="1100" dirty="0"/>
          </a:p>
        </p:txBody>
      </p:sp>
      <p:sp>
        <p:nvSpPr>
          <p:cNvPr id="15" name="Text 12"/>
          <p:cNvSpPr/>
          <p:nvPr/>
        </p:nvSpPr>
        <p:spPr>
          <a:xfrm>
            <a:off x="6492240" y="3154680"/>
            <a:ext cx="2286000" cy="64008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Netflix edge</a:t>
            </a:r>
            <a:endParaRPr lang="en-US" sz="1000" dirty="0"/>
          </a:p>
          <a:p>
            <a:pPr algn="ctr" indent="0" marL="0">
              <a:buNone/>
            </a:pPr>
            <a:r>
              <a:rPr lang="en-US" sz="1000" dirty="0">
                <a:solidFill>
                  <a:srgbClr val="888898"/>
                </a:solidFill>
                <a:latin typeface="Calibri" pitchFamily="34" charset="0"/>
                <a:ea typeface="Calibri" pitchFamily="34" charset="-122"/>
                <a:cs typeface="Calibri" pitchFamily="34" charset="-120"/>
              </a:rPr>
              <a:t>infrastructure</a:t>
            </a:r>
            <a:endParaRPr lang="en-US" sz="1000" dirty="0"/>
          </a:p>
        </p:txBody>
      </p:sp>
      <p:sp>
        <p:nvSpPr>
          <p:cNvPr id="16" name="Shape 13"/>
          <p:cNvSpPr/>
          <p:nvPr/>
        </p:nvSpPr>
        <p:spPr>
          <a:xfrm>
            <a:off x="7635240" y="2286000"/>
            <a:ext cx="0" cy="457200"/>
          </a:xfrm>
          <a:prstGeom prst="line">
            <a:avLst/>
          </a:prstGeom>
          <a:noFill/>
          <a:ln w="19050">
            <a:solidFill>
              <a:srgbClr val="E05A30"/>
            </a:solidFill>
            <a:prstDash val="sysDot"/>
          </a:ln>
        </p:spPr>
      </p:sp>
      <p:sp>
        <p:nvSpPr>
          <p:cNvPr id="17" name="Text 14"/>
          <p:cNvSpPr/>
          <p:nvPr/>
        </p:nvSpPr>
        <p:spPr>
          <a:xfrm>
            <a:off x="7644384" y="2377440"/>
            <a:ext cx="914400" cy="274320"/>
          </a:xfrm>
          <a:prstGeom prst="rect">
            <a:avLst/>
          </a:prstGeom>
          <a:noFill/>
          <a:ln/>
        </p:spPr>
        <p:txBody>
          <a:bodyPr wrap="square" rtlCol="0" anchor="ctr"/>
          <a:lstStyle/>
          <a:p>
            <a:pPr indent="0" marL="0">
              <a:buNone/>
            </a:pPr>
            <a:r>
              <a:rPr lang="en-US" sz="900" dirty="0">
                <a:solidFill>
                  <a:srgbClr val="E05A30"/>
                </a:solidFill>
                <a:latin typeface="Calibri" pitchFamily="34" charset="0"/>
                <a:ea typeface="Calibri" pitchFamily="34" charset="-122"/>
                <a:cs typeface="Calibri" pitchFamily="34" charset="-120"/>
              </a:rPr>
              <a:t>HTTPS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F9F27"/>
          </a:solidFill>
          <a:ln w="12700">
            <a:solidFill>
              <a:srgbClr val="EF9F27"/>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EF9F27"/>
                </a:solidFill>
                <a:latin typeface="Calibri" pitchFamily="34" charset="0"/>
                <a:ea typeface="Calibri" pitchFamily="34" charset="-122"/>
                <a:cs typeface="Calibri" pitchFamily="34" charset="-120"/>
              </a:rPr>
              <a:t>03 — Auth Service</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Who are you?</a:t>
            </a:r>
            <a:endParaRPr lang="en-US" sz="3600" dirty="0"/>
          </a:p>
        </p:txBody>
      </p:sp>
      <p:sp>
        <p:nvSpPr>
          <p:cNvPr id="5" name="Shape 3"/>
          <p:cNvSpPr/>
          <p:nvPr/>
        </p:nvSpPr>
        <p:spPr>
          <a:xfrm>
            <a:off x="274320" y="1417320"/>
            <a:ext cx="8595360" cy="10973"/>
          </a:xfrm>
          <a:prstGeom prst="rect">
            <a:avLst/>
          </a:prstGeom>
          <a:solidFill>
            <a:srgbClr val="EF9F27">
              <a:alpha val="40000"/>
            </a:srgbClr>
          </a:solidFill>
          <a:ln w="12700">
            <a:solidFill>
              <a:srgbClr val="EF9F27"/>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Your session token is validated against Netflix's identity service. This check confirms your subscription tier, account status, and device profile. It also determines what content you're allowed to access — regional availability, plan restrictions, and device limits are all enforced here, before a single frame is sent.</a:t>
            </a:r>
            <a:endParaRPr lang="en-US" sz="1500" dirty="0"/>
          </a:p>
        </p:txBody>
      </p:sp>
      <p:sp>
        <p:nvSpPr>
          <p:cNvPr id="7" name="Shape 5"/>
          <p:cNvSpPr/>
          <p:nvPr/>
        </p:nvSpPr>
        <p:spPr>
          <a:xfrm>
            <a:off x="274320" y="4206240"/>
            <a:ext cx="2240280" cy="347472"/>
          </a:xfrm>
          <a:prstGeom prst="rect">
            <a:avLst/>
          </a:prstGeom>
          <a:solidFill>
            <a:srgbClr val="EF9F27">
              <a:alpha val="20000"/>
            </a:srgbClr>
          </a:solidFill>
          <a:ln w="12700">
            <a:solidFill>
              <a:srgbClr val="EF9F27"/>
            </a:solidFill>
            <a:prstDash val="solid"/>
          </a:ln>
        </p:spPr>
      </p:sp>
      <p:sp>
        <p:nvSpPr>
          <p:cNvPr id="8" name="Text 6"/>
          <p:cNvSpPr/>
          <p:nvPr/>
        </p:nvSpPr>
        <p:spPr>
          <a:xfrm>
            <a:off x="274320" y="4206240"/>
            <a:ext cx="2240280" cy="347472"/>
          </a:xfrm>
          <a:prstGeom prst="rect">
            <a:avLst/>
          </a:prstGeom>
          <a:noFill/>
          <a:ln/>
        </p:spPr>
        <p:txBody>
          <a:bodyPr wrap="square" rtlCol="0" anchor="ctr"/>
          <a:lstStyle/>
          <a:p>
            <a:pPr algn="ctr" indent="0" marL="0">
              <a:buNone/>
            </a:pPr>
            <a:r>
              <a:rPr lang="en-US" sz="1100" b="1" dirty="0">
                <a:solidFill>
                  <a:srgbClr val="EF9F27"/>
                </a:solidFill>
                <a:latin typeface="Calibri" pitchFamily="34" charset="0"/>
                <a:ea typeface="Calibri" pitchFamily="34" charset="-122"/>
                <a:cs typeface="Calibri" pitchFamily="34" charset="-120"/>
              </a:rPr>
              <a:t>OAuth 2.0 / JWT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D9E75"/>
          </a:solidFill>
          <a:ln w="12700">
            <a:solidFill>
              <a:srgbClr val="1D9E75"/>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1D9E75"/>
                </a:solidFill>
                <a:latin typeface="Calibri" pitchFamily="34" charset="0"/>
                <a:ea typeface="Calibri" pitchFamily="34" charset="-122"/>
                <a:cs typeface="Calibri" pitchFamily="34" charset="-120"/>
              </a:rPr>
              <a:t>05 — Playback API</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What to send you</a:t>
            </a:r>
            <a:endParaRPr lang="en-US" sz="3600" dirty="0"/>
          </a:p>
        </p:txBody>
      </p:sp>
      <p:sp>
        <p:nvSpPr>
          <p:cNvPr id="5" name="Shape 3"/>
          <p:cNvSpPr/>
          <p:nvPr/>
        </p:nvSpPr>
        <p:spPr>
          <a:xfrm>
            <a:off x="274320" y="1417320"/>
            <a:ext cx="8595360" cy="10973"/>
          </a:xfrm>
          <a:prstGeom prst="rect">
            <a:avLst/>
          </a:prstGeom>
          <a:solidFill>
            <a:srgbClr val="1D9E75">
              <a:alpha val="40000"/>
            </a:srgbClr>
          </a:solidFill>
          <a:ln w="12700">
            <a:solidFill>
              <a:srgbClr val="1D9E75"/>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The playback service decides the starting video quality, audio track, subtitle language, and which CDN server to direct your device toward. It factors in your device's capabilities, screen resolution, your connection's historical bandwidth, and your language preferences. This step also selects the video codec — H.264 for broad compatibility, AV1 for efficient devices that support it.</a:t>
            </a:r>
            <a:endParaRPr lang="en-US" sz="1500" dirty="0"/>
          </a:p>
        </p:txBody>
      </p:sp>
      <p:sp>
        <p:nvSpPr>
          <p:cNvPr id="7" name="Shape 5"/>
          <p:cNvSpPr/>
          <p:nvPr/>
        </p:nvSpPr>
        <p:spPr>
          <a:xfrm>
            <a:off x="274320" y="4206240"/>
            <a:ext cx="2596896" cy="347472"/>
          </a:xfrm>
          <a:prstGeom prst="rect">
            <a:avLst/>
          </a:prstGeom>
          <a:solidFill>
            <a:srgbClr val="1D9E75">
              <a:alpha val="20000"/>
            </a:srgbClr>
          </a:solidFill>
          <a:ln w="12700">
            <a:solidFill>
              <a:srgbClr val="1D9E75"/>
            </a:solidFill>
            <a:prstDash val="solid"/>
          </a:ln>
        </p:spPr>
      </p:sp>
      <p:sp>
        <p:nvSpPr>
          <p:cNvPr id="8" name="Text 6"/>
          <p:cNvSpPr/>
          <p:nvPr/>
        </p:nvSpPr>
        <p:spPr>
          <a:xfrm>
            <a:off x="274320" y="4206240"/>
            <a:ext cx="2596896" cy="347472"/>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Adaptive streaming</a:t>
            </a:r>
            <a:endParaRPr lang="en-US" sz="1100" dirty="0"/>
          </a:p>
        </p:txBody>
      </p:sp>
      <p:sp>
        <p:nvSpPr>
          <p:cNvPr id="10" name="Shape 7"/>
          <p:cNvSpPr/>
          <p:nvPr/>
        </p:nvSpPr>
        <p:spPr>
          <a:xfrm>
            <a:off x="6492240" y="4206240"/>
            <a:ext cx="256032" cy="274320"/>
          </a:xfrm>
          <a:prstGeom prst="rect">
            <a:avLst/>
          </a:prstGeom>
          <a:solidFill>
            <a:srgbClr val="888780"/>
          </a:solidFill>
          <a:ln w="12700">
            <a:solidFill>
              <a:srgbClr val="888780"/>
            </a:solidFill>
            <a:prstDash val="solid"/>
          </a:ln>
        </p:spPr>
      </p:sp>
      <p:sp>
        <p:nvSpPr>
          <p:cNvPr id="11" name="Text 8"/>
          <p:cNvSpPr/>
          <p:nvPr/>
        </p:nvSpPr>
        <p:spPr>
          <a:xfrm>
            <a:off x="6446520"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240p</a:t>
            </a:r>
            <a:endParaRPr lang="en-US" sz="800" dirty="0"/>
          </a:p>
        </p:txBody>
      </p:sp>
      <p:sp>
        <p:nvSpPr>
          <p:cNvPr id="12" name="Shape 9"/>
          <p:cNvSpPr/>
          <p:nvPr/>
        </p:nvSpPr>
        <p:spPr>
          <a:xfrm>
            <a:off x="6839712" y="4023360"/>
            <a:ext cx="256032" cy="457200"/>
          </a:xfrm>
          <a:prstGeom prst="rect">
            <a:avLst/>
          </a:prstGeom>
          <a:solidFill>
            <a:srgbClr val="888780"/>
          </a:solidFill>
          <a:ln w="12700">
            <a:solidFill>
              <a:srgbClr val="888780"/>
            </a:solidFill>
            <a:prstDash val="solid"/>
          </a:ln>
        </p:spPr>
      </p:sp>
      <p:sp>
        <p:nvSpPr>
          <p:cNvPr id="13" name="Text 10"/>
          <p:cNvSpPr/>
          <p:nvPr/>
        </p:nvSpPr>
        <p:spPr>
          <a:xfrm>
            <a:off x="6793992"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360p</a:t>
            </a:r>
            <a:endParaRPr lang="en-US" sz="800" dirty="0"/>
          </a:p>
        </p:txBody>
      </p:sp>
      <p:sp>
        <p:nvSpPr>
          <p:cNvPr id="14" name="Shape 11"/>
          <p:cNvSpPr/>
          <p:nvPr/>
        </p:nvSpPr>
        <p:spPr>
          <a:xfrm>
            <a:off x="7187184" y="3794760"/>
            <a:ext cx="256032" cy="685800"/>
          </a:xfrm>
          <a:prstGeom prst="rect">
            <a:avLst/>
          </a:prstGeom>
          <a:solidFill>
            <a:srgbClr val="888780"/>
          </a:solidFill>
          <a:ln w="12700">
            <a:solidFill>
              <a:srgbClr val="888780"/>
            </a:solidFill>
            <a:prstDash val="solid"/>
          </a:ln>
        </p:spPr>
      </p:sp>
      <p:sp>
        <p:nvSpPr>
          <p:cNvPr id="15" name="Text 12"/>
          <p:cNvSpPr/>
          <p:nvPr/>
        </p:nvSpPr>
        <p:spPr>
          <a:xfrm>
            <a:off x="7141464"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480p</a:t>
            </a:r>
            <a:endParaRPr lang="en-US" sz="800" dirty="0"/>
          </a:p>
        </p:txBody>
      </p:sp>
      <p:sp>
        <p:nvSpPr>
          <p:cNvPr id="16" name="Shape 13"/>
          <p:cNvSpPr/>
          <p:nvPr/>
        </p:nvSpPr>
        <p:spPr>
          <a:xfrm>
            <a:off x="7534656" y="3520440"/>
            <a:ext cx="256032" cy="960120"/>
          </a:xfrm>
          <a:prstGeom prst="rect">
            <a:avLst/>
          </a:prstGeom>
          <a:solidFill>
            <a:srgbClr val="1D9E75"/>
          </a:solidFill>
          <a:ln w="12700">
            <a:solidFill>
              <a:srgbClr val="1D9E75"/>
            </a:solidFill>
            <a:prstDash val="solid"/>
          </a:ln>
        </p:spPr>
      </p:sp>
      <p:sp>
        <p:nvSpPr>
          <p:cNvPr id="17" name="Text 14"/>
          <p:cNvSpPr/>
          <p:nvPr/>
        </p:nvSpPr>
        <p:spPr>
          <a:xfrm>
            <a:off x="7488936"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720p</a:t>
            </a:r>
            <a:endParaRPr lang="en-US" sz="800" dirty="0"/>
          </a:p>
        </p:txBody>
      </p:sp>
      <p:sp>
        <p:nvSpPr>
          <p:cNvPr id="18" name="Shape 15"/>
          <p:cNvSpPr/>
          <p:nvPr/>
        </p:nvSpPr>
        <p:spPr>
          <a:xfrm>
            <a:off x="7882128" y="3246120"/>
            <a:ext cx="256032" cy="1234440"/>
          </a:xfrm>
          <a:prstGeom prst="rect">
            <a:avLst/>
          </a:prstGeom>
          <a:solidFill>
            <a:srgbClr val="5DCAA5"/>
          </a:solidFill>
          <a:ln w="12700">
            <a:solidFill>
              <a:srgbClr val="5DCAA5"/>
            </a:solidFill>
            <a:prstDash val="solid"/>
          </a:ln>
        </p:spPr>
      </p:sp>
      <p:sp>
        <p:nvSpPr>
          <p:cNvPr id="19" name="Text 16"/>
          <p:cNvSpPr/>
          <p:nvPr/>
        </p:nvSpPr>
        <p:spPr>
          <a:xfrm>
            <a:off x="7836408"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1080p</a:t>
            </a:r>
            <a:endParaRPr lang="en-US" sz="800" dirty="0"/>
          </a:p>
        </p:txBody>
      </p:sp>
      <p:sp>
        <p:nvSpPr>
          <p:cNvPr id="20" name="Shape 17"/>
          <p:cNvSpPr/>
          <p:nvPr/>
        </p:nvSpPr>
        <p:spPr>
          <a:xfrm>
            <a:off x="8229600" y="2926080"/>
            <a:ext cx="256032" cy="1554480"/>
          </a:xfrm>
          <a:prstGeom prst="rect">
            <a:avLst/>
          </a:prstGeom>
          <a:solidFill>
            <a:srgbClr val="E05A30"/>
          </a:solidFill>
          <a:ln w="12700">
            <a:solidFill>
              <a:srgbClr val="E05A30"/>
            </a:solidFill>
            <a:prstDash val="solid"/>
          </a:ln>
        </p:spPr>
      </p:sp>
      <p:sp>
        <p:nvSpPr>
          <p:cNvPr id="21" name="Text 18"/>
          <p:cNvSpPr/>
          <p:nvPr/>
        </p:nvSpPr>
        <p:spPr>
          <a:xfrm>
            <a:off x="8183880" y="4498848"/>
            <a:ext cx="347472" cy="274320"/>
          </a:xfrm>
          <a:prstGeom prst="rect">
            <a:avLst/>
          </a:prstGeom>
          <a:noFill/>
          <a:ln/>
        </p:spPr>
        <p:txBody>
          <a:bodyPr wrap="square" rtlCol="0" anchor="ctr"/>
          <a:lstStyle/>
          <a:p>
            <a:pPr algn="ctr" indent="0" marL="0">
              <a:buNone/>
            </a:pPr>
            <a:r>
              <a:rPr lang="en-US" sz="800" dirty="0">
                <a:solidFill>
                  <a:srgbClr val="888898"/>
                </a:solidFill>
                <a:latin typeface="Calibri" pitchFamily="34" charset="0"/>
                <a:ea typeface="Calibri" pitchFamily="34" charset="-122"/>
                <a:cs typeface="Calibri" pitchFamily="34" charset="-120"/>
              </a:rPr>
              <a:t>4K</a:t>
            </a:r>
            <a:endParaRPr lang="en-US" sz="800" dirty="0"/>
          </a:p>
        </p:txBody>
      </p:sp>
      <p:sp>
        <p:nvSpPr>
          <p:cNvPr id="22" name="Text 19"/>
          <p:cNvSpPr/>
          <p:nvPr/>
        </p:nvSpPr>
        <p:spPr>
          <a:xfrm>
            <a:off x="6400800" y="914400"/>
            <a:ext cx="2468880" cy="320040"/>
          </a:xfrm>
          <a:prstGeom prst="rect">
            <a:avLst/>
          </a:prstGeom>
          <a:noFill/>
          <a:ln/>
        </p:spPr>
        <p:txBody>
          <a:bodyPr wrap="square" rtlCol="0" anchor="ctr"/>
          <a:lstStyle/>
          <a:p>
            <a:pPr indent="0" marL="0">
              <a:buNone/>
            </a:pPr>
            <a:r>
              <a:rPr lang="en-US" sz="1000" spc="300" kern="0" dirty="0">
                <a:solidFill>
                  <a:srgbClr val="888898"/>
                </a:solidFill>
                <a:latin typeface="Calibri" pitchFamily="34" charset="0"/>
                <a:ea typeface="Calibri" pitchFamily="34" charset="-122"/>
                <a:cs typeface="Calibri" pitchFamily="34" charset="-120"/>
              </a:rPr>
              <a:t>Quality tiers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1D9E75"/>
          </a:solidFill>
          <a:ln w="12700">
            <a:solidFill>
              <a:srgbClr val="1D9E75"/>
            </a:solidFill>
            <a:prstDash val="solid"/>
          </a:ln>
        </p:spPr>
      </p:sp>
      <p:sp>
        <p:nvSpPr>
          <p:cNvPr id="3" name="Text 1"/>
          <p:cNvSpPr/>
          <p:nvPr/>
        </p:nvSpPr>
        <p:spPr>
          <a:xfrm>
            <a:off x="274320" y="320040"/>
            <a:ext cx="8412480" cy="320040"/>
          </a:xfrm>
          <a:prstGeom prst="rect">
            <a:avLst/>
          </a:prstGeom>
          <a:noFill/>
          <a:ln/>
        </p:spPr>
        <p:txBody>
          <a:bodyPr wrap="square" rtlCol="0" anchor="ctr"/>
          <a:lstStyle/>
          <a:p>
            <a:pPr indent="0" marL="0">
              <a:buNone/>
            </a:pPr>
            <a:r>
              <a:rPr lang="en-US" sz="1100" b="1" spc="400" kern="0" dirty="0">
                <a:solidFill>
                  <a:srgbClr val="1D9E75"/>
                </a:solidFill>
                <a:latin typeface="Calibri" pitchFamily="34" charset="0"/>
                <a:ea typeface="Calibri" pitchFamily="34" charset="-122"/>
                <a:cs typeface="Calibri" pitchFamily="34" charset="-120"/>
              </a:rPr>
              <a:t>06 — Open Connect CDN</a:t>
            </a:r>
            <a:endParaRPr lang="en-US" sz="1100" dirty="0"/>
          </a:p>
        </p:txBody>
      </p:sp>
      <p:sp>
        <p:nvSpPr>
          <p:cNvPr id="4" name="Text 2"/>
          <p:cNvSpPr/>
          <p:nvPr/>
        </p:nvSpPr>
        <p:spPr>
          <a:xfrm>
            <a:off x="274320" y="640080"/>
            <a:ext cx="859536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Netflix's secret weapon</a:t>
            </a:r>
            <a:endParaRPr lang="en-US" sz="3600" dirty="0"/>
          </a:p>
        </p:txBody>
      </p:sp>
      <p:sp>
        <p:nvSpPr>
          <p:cNvPr id="5" name="Shape 3"/>
          <p:cNvSpPr/>
          <p:nvPr/>
        </p:nvSpPr>
        <p:spPr>
          <a:xfrm>
            <a:off x="274320" y="1417320"/>
            <a:ext cx="8595360" cy="10973"/>
          </a:xfrm>
          <a:prstGeom prst="rect">
            <a:avLst/>
          </a:prstGeom>
          <a:solidFill>
            <a:srgbClr val="1D9E75">
              <a:alpha val="40000"/>
            </a:srgbClr>
          </a:solidFill>
          <a:ln w="12700">
            <a:solidFill>
              <a:srgbClr val="1D9E75"/>
            </a:solidFill>
            <a:prstDash val="solid"/>
          </a:ln>
        </p:spPr>
      </p:sp>
      <p:sp>
        <p:nvSpPr>
          <p:cNvPr id="6" name="Text 4"/>
          <p:cNvSpPr/>
          <p:nvPr/>
        </p:nvSpPr>
        <p:spPr>
          <a:xfrm>
            <a:off x="274320" y="1554480"/>
            <a:ext cx="5943600" cy="2377440"/>
          </a:xfrm>
          <a:prstGeom prst="rect">
            <a:avLst/>
          </a:prstGeom>
          <a:noFill/>
          <a:ln/>
        </p:spPr>
        <p:txBody>
          <a:bodyPr wrap="square" rtlCol="0" anchor="t"/>
          <a:lstStyle/>
          <a:p>
            <a:pPr indent="0" marL="0">
              <a:buNone/>
            </a:pPr>
            <a:r>
              <a:rPr lang="en-US" sz="1500" dirty="0">
                <a:solidFill>
                  <a:srgbClr val="E8E8F0"/>
                </a:solidFill>
                <a:latin typeface="Calibri" pitchFamily="34" charset="0"/>
                <a:ea typeface="Calibri" pitchFamily="34" charset="-122"/>
                <a:cs typeface="Calibri" pitchFamily="34" charset="-120"/>
              </a:rPr>
              <a:t>Rather than renting capacity from a third-party CDN, Netflix built its own — Open Connect. They physically install servers inside ISPs' buildings around the world. Your stream comes from a box that might be in the same city, sometimes the same building, as your router. This dramatically reduces latency, cuts transit costs, and improves reliability. Netflix negotiates these placements directly with ISPs.</a:t>
            </a:r>
            <a:endParaRPr lang="en-US" sz="1500" dirty="0"/>
          </a:p>
        </p:txBody>
      </p:sp>
      <p:sp>
        <p:nvSpPr>
          <p:cNvPr id="7" name="Shape 5"/>
          <p:cNvSpPr/>
          <p:nvPr/>
        </p:nvSpPr>
        <p:spPr>
          <a:xfrm>
            <a:off x="274320" y="4206240"/>
            <a:ext cx="3657600" cy="347472"/>
          </a:xfrm>
          <a:prstGeom prst="rect">
            <a:avLst/>
          </a:prstGeom>
          <a:solidFill>
            <a:srgbClr val="1D9E75">
              <a:alpha val="20000"/>
            </a:srgbClr>
          </a:solidFill>
          <a:ln w="12700">
            <a:solidFill>
              <a:srgbClr val="1D9E75"/>
            </a:solidFill>
            <a:prstDash val="solid"/>
          </a:ln>
        </p:spPr>
      </p:sp>
      <p:sp>
        <p:nvSpPr>
          <p:cNvPr id="8" name="Text 6"/>
          <p:cNvSpPr/>
          <p:nvPr/>
        </p:nvSpPr>
        <p:spPr>
          <a:xfrm>
            <a:off x="274320" y="4206240"/>
            <a:ext cx="3657600" cy="347472"/>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200+ countries, inside ISPs</a:t>
            </a:r>
            <a:endParaRPr lang="en-US" sz="1100" dirty="0"/>
          </a:p>
        </p:txBody>
      </p:sp>
      <p:sp>
        <p:nvSpPr>
          <p:cNvPr id="10" name="Shape 7"/>
          <p:cNvSpPr/>
          <p:nvPr/>
        </p:nvSpPr>
        <p:spPr>
          <a:xfrm>
            <a:off x="6400800" y="914400"/>
            <a:ext cx="2560320" cy="3200400"/>
          </a:xfrm>
          <a:prstGeom prst="rect">
            <a:avLst/>
          </a:prstGeom>
          <a:solidFill>
            <a:srgbClr val="12121A"/>
          </a:solidFill>
          <a:ln w="12700">
            <a:solidFill>
              <a:srgbClr val="1D9E75"/>
            </a:solidFill>
            <a:prstDash val="solid"/>
          </a:ln>
        </p:spPr>
      </p:sp>
      <p:sp>
        <p:nvSpPr>
          <p:cNvPr id="11" name="Text 8"/>
          <p:cNvSpPr/>
          <p:nvPr/>
        </p:nvSpPr>
        <p:spPr>
          <a:xfrm>
            <a:off x="6400800" y="960120"/>
            <a:ext cx="2560320" cy="365760"/>
          </a:xfrm>
          <a:prstGeom prst="rect">
            <a:avLst/>
          </a:prstGeom>
          <a:noFill/>
          <a:ln/>
        </p:spPr>
        <p:txBody>
          <a:bodyPr wrap="square" rtlCol="0" anchor="ctr"/>
          <a:lstStyle/>
          <a:p>
            <a:pPr algn="ctr" indent="0" marL="0">
              <a:buNone/>
            </a:pPr>
            <a:r>
              <a:rPr lang="en-US" sz="1000" spc="300" kern="0" dirty="0">
                <a:solidFill>
                  <a:srgbClr val="1D9E75"/>
                </a:solidFill>
                <a:latin typeface="Calibri" pitchFamily="34" charset="0"/>
                <a:ea typeface="Calibri" pitchFamily="34" charset="-122"/>
                <a:cs typeface="Calibri" pitchFamily="34" charset="-120"/>
              </a:rPr>
              <a:t>ISP Network</a:t>
            </a:r>
            <a:endParaRPr lang="en-US" sz="1000" dirty="0"/>
          </a:p>
        </p:txBody>
      </p:sp>
      <p:sp>
        <p:nvSpPr>
          <p:cNvPr id="12" name="Shape 9"/>
          <p:cNvSpPr/>
          <p:nvPr/>
        </p:nvSpPr>
        <p:spPr>
          <a:xfrm>
            <a:off x="6675120" y="1463040"/>
            <a:ext cx="2011680" cy="731520"/>
          </a:xfrm>
          <a:prstGeom prst="rect">
            <a:avLst/>
          </a:prstGeom>
          <a:solidFill>
            <a:srgbClr val="1A1A26"/>
          </a:solidFill>
          <a:ln w="12700">
            <a:solidFill>
              <a:srgbClr val="1D9E75"/>
            </a:solidFill>
            <a:prstDash val="solid"/>
          </a:ln>
        </p:spPr>
      </p:sp>
      <p:sp>
        <p:nvSpPr>
          <p:cNvPr id="13" name="Text 10"/>
          <p:cNvSpPr/>
          <p:nvPr/>
        </p:nvSpPr>
        <p:spPr>
          <a:xfrm>
            <a:off x="6675120" y="1463040"/>
            <a:ext cx="2011680" cy="731520"/>
          </a:xfrm>
          <a:prstGeom prst="rect">
            <a:avLst/>
          </a:prstGeom>
          <a:noFill/>
          <a:ln/>
        </p:spPr>
        <p:txBody>
          <a:bodyPr wrap="square" rtlCol="0" anchor="ctr"/>
          <a:lstStyle/>
          <a:p>
            <a:pPr algn="ctr" indent="0" marL="0">
              <a:buNone/>
            </a:pPr>
            <a:r>
              <a:rPr lang="en-US" sz="1000" dirty="0">
                <a:solidFill>
                  <a:srgbClr val="5DCAA5"/>
                </a:solidFill>
                <a:latin typeface="Calibri" pitchFamily="34" charset="0"/>
                <a:ea typeface="Calibri" pitchFamily="34" charset="-122"/>
                <a:cs typeface="Calibri" pitchFamily="34" charset="-120"/>
              </a:rPr>
              <a:t>Open Connect</a:t>
            </a:r>
            <a:endParaRPr lang="en-US" sz="1000" dirty="0"/>
          </a:p>
          <a:p>
            <a:pPr algn="ctr" indent="0" marL="0">
              <a:buNone/>
            </a:pPr>
            <a:r>
              <a:rPr lang="en-US" sz="1000" dirty="0">
                <a:solidFill>
                  <a:srgbClr val="5DCAA5"/>
                </a:solidFill>
                <a:latin typeface="Calibri" pitchFamily="34" charset="0"/>
                <a:ea typeface="Calibri" pitchFamily="34" charset="-122"/>
                <a:cs typeface="Calibri" pitchFamily="34" charset="-120"/>
              </a:rPr>
              <a:t>Appliance</a:t>
            </a:r>
            <a:endParaRPr lang="en-US" sz="1000" dirty="0"/>
          </a:p>
        </p:txBody>
      </p:sp>
      <p:sp>
        <p:nvSpPr>
          <p:cNvPr id="14" name="Shape 11"/>
          <p:cNvSpPr/>
          <p:nvPr/>
        </p:nvSpPr>
        <p:spPr>
          <a:xfrm>
            <a:off x="7680960" y="2194560"/>
            <a:ext cx="0" cy="457200"/>
          </a:xfrm>
          <a:prstGeom prst="line">
            <a:avLst/>
          </a:prstGeom>
          <a:noFill/>
          <a:ln w="12700">
            <a:solidFill>
              <a:srgbClr val="1D9E75"/>
            </a:solidFill>
            <a:prstDash val="sysDot"/>
          </a:ln>
        </p:spPr>
      </p:sp>
      <p:sp>
        <p:nvSpPr>
          <p:cNvPr id="15" name="Shape 12"/>
          <p:cNvSpPr/>
          <p:nvPr/>
        </p:nvSpPr>
        <p:spPr>
          <a:xfrm>
            <a:off x="6675120" y="2743200"/>
            <a:ext cx="2011680" cy="731520"/>
          </a:xfrm>
          <a:prstGeom prst="rect">
            <a:avLst/>
          </a:prstGeom>
          <a:solidFill>
            <a:srgbClr val="1A1A26"/>
          </a:solidFill>
          <a:ln w="12700">
            <a:solidFill>
              <a:srgbClr val="888898"/>
            </a:solidFill>
            <a:prstDash val="solid"/>
          </a:ln>
        </p:spPr>
      </p:sp>
      <p:sp>
        <p:nvSpPr>
          <p:cNvPr id="16" name="Text 13"/>
          <p:cNvSpPr/>
          <p:nvPr/>
        </p:nvSpPr>
        <p:spPr>
          <a:xfrm>
            <a:off x="6675120" y="2743200"/>
            <a:ext cx="2011680" cy="731520"/>
          </a:xfrm>
          <a:prstGeom prst="rect">
            <a:avLst/>
          </a:prstGeom>
          <a:noFill/>
          <a:ln/>
        </p:spPr>
        <p:txBody>
          <a:bodyPr wrap="square" rtlCol="0" anchor="ctr"/>
          <a:lstStyle/>
          <a:p>
            <a:pPr algn="ctr" indent="0" marL="0">
              <a:buNone/>
            </a:pPr>
            <a:r>
              <a:rPr lang="en-US" sz="1000" dirty="0">
                <a:solidFill>
                  <a:srgbClr val="888898"/>
                </a:solidFill>
                <a:latin typeface="Calibri" pitchFamily="34" charset="0"/>
                <a:ea typeface="Calibri" pitchFamily="34" charset="-122"/>
                <a:cs typeface="Calibri" pitchFamily="34" charset="-120"/>
              </a:rPr>
              <a:t>Your router</a:t>
            </a:r>
            <a:endParaRPr lang="en-US" sz="1000" dirty="0"/>
          </a:p>
          <a:p>
            <a:pPr algn="ctr" indent="0" marL="0">
              <a:buNone/>
            </a:pPr>
            <a:r>
              <a:rPr lang="en-US" sz="1000" dirty="0">
                <a:solidFill>
                  <a:srgbClr val="888898"/>
                </a:solidFill>
                <a:latin typeface="Calibri" pitchFamily="34" charset="0"/>
                <a:ea typeface="Calibri" pitchFamily="34" charset="-122"/>
                <a:cs typeface="Calibri" pitchFamily="34" charset="-120"/>
              </a:rPr>
              <a:t>+ device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9144000" cy="2011680"/>
          </a:xfrm>
          <a:prstGeom prst="rect">
            <a:avLst/>
          </a:prstGeom>
          <a:solidFill>
            <a:srgbClr val="12121A"/>
          </a:solidFill>
          <a:ln w="12700">
            <a:solidFill>
              <a:srgbClr val="12121A"/>
            </a:solidFill>
            <a:prstDash val="solid"/>
          </a:ln>
        </p:spPr>
      </p:sp>
      <p:sp>
        <p:nvSpPr>
          <p:cNvPr id="3" name="Text 1"/>
          <p:cNvSpPr/>
          <p:nvPr/>
        </p:nvSpPr>
        <p:spPr>
          <a:xfrm>
            <a:off x="548640" y="228600"/>
            <a:ext cx="8229600" cy="1371600"/>
          </a:xfrm>
          <a:prstGeom prst="rect">
            <a:avLst/>
          </a:prstGeom>
          <a:noFill/>
          <a:ln/>
        </p:spPr>
        <p:txBody>
          <a:bodyPr wrap="square" rtlCol="0" anchor="ctr"/>
          <a:lstStyle/>
          <a:p>
            <a:pPr indent="0" marL="0">
              <a:buNone/>
            </a:pPr>
            <a:r>
              <a:rPr lang="en-US" sz="8000" b="1" dirty="0">
                <a:solidFill>
                  <a:srgbClr val="E05A30"/>
                </a:solidFill>
                <a:latin typeface="Georgia" pitchFamily="34" charset="0"/>
                <a:ea typeface="Georgia" pitchFamily="34" charset="-122"/>
                <a:cs typeface="Georgia" pitchFamily="34" charset="-120"/>
              </a:rPr>
              <a:t>&lt; 2s</a:t>
            </a:r>
            <a:endParaRPr lang="en-US" sz="8000" dirty="0"/>
          </a:p>
        </p:txBody>
      </p:sp>
      <p:sp>
        <p:nvSpPr>
          <p:cNvPr id="4" name="Text 2"/>
          <p:cNvSpPr/>
          <p:nvPr/>
        </p:nvSpPr>
        <p:spPr>
          <a:xfrm>
            <a:off x="548640" y="1600200"/>
            <a:ext cx="8229600" cy="457200"/>
          </a:xfrm>
          <a:prstGeom prst="rect">
            <a:avLst/>
          </a:prstGeom>
          <a:noFill/>
          <a:ln/>
        </p:spPr>
        <p:txBody>
          <a:bodyPr wrap="square" rtlCol="0" anchor="ctr"/>
          <a:lstStyle/>
          <a:p>
            <a:pPr indent="0" marL="0">
              <a:buNone/>
            </a:pPr>
            <a:r>
              <a:rPr lang="en-US" sz="1300" spc="600" kern="0" dirty="0">
                <a:solidFill>
                  <a:srgbClr val="888898"/>
                </a:solidFill>
                <a:latin typeface="Calibri" pitchFamily="34" charset="0"/>
                <a:ea typeface="Calibri" pitchFamily="34" charset="-122"/>
                <a:cs typeface="Calibri" pitchFamily="34" charset="-120"/>
              </a:rPr>
              <a:t>from tap to first frame</a:t>
            </a:r>
            <a:endParaRPr lang="en-US" sz="1300" dirty="0"/>
          </a:p>
        </p:txBody>
      </p:sp>
      <p:sp>
        <p:nvSpPr>
          <p:cNvPr id="5" name="Text 3"/>
          <p:cNvSpPr/>
          <p:nvPr/>
        </p:nvSpPr>
        <p:spPr>
          <a:xfrm>
            <a:off x="548640" y="2286000"/>
            <a:ext cx="7772400" cy="1280160"/>
          </a:xfrm>
          <a:prstGeom prst="rect">
            <a:avLst/>
          </a:prstGeom>
          <a:noFill/>
          <a:ln/>
        </p:spPr>
        <p:txBody>
          <a:bodyPr wrap="square" rtlCol="0" anchor="ctr"/>
          <a:lstStyle/>
          <a:p>
            <a:pPr indent="0" marL="0">
              <a:buNone/>
            </a:pPr>
            <a:r>
              <a:rPr lang="en-US" sz="1500" dirty="0">
                <a:solidFill>
                  <a:srgbClr val="E8E8F0"/>
                </a:solidFill>
                <a:latin typeface="Calibri" pitchFamily="34" charset="0"/>
                <a:ea typeface="Calibri" pitchFamily="34" charset="-122"/>
                <a:cs typeface="Calibri" pitchFamily="34" charset="-120"/>
              </a:rPr>
              <a:t>Eleven hops. Two parallel pipelines. Cryptographic keys, a CDN inside your ISP, adaptive quality switching, and GPU decoding — all invisible, all completing before you've had time to wonder why it's taking long.</a:t>
            </a:r>
            <a:endParaRPr lang="en-US" sz="1500" dirty="0"/>
          </a:p>
        </p:txBody>
      </p:sp>
      <p:sp>
        <p:nvSpPr>
          <p:cNvPr id="6" name="Shape 4"/>
          <p:cNvSpPr/>
          <p:nvPr/>
        </p:nvSpPr>
        <p:spPr>
          <a:xfrm>
            <a:off x="457200" y="3840480"/>
            <a:ext cx="1508760" cy="457200"/>
          </a:xfrm>
          <a:prstGeom prst="rect">
            <a:avLst/>
          </a:prstGeom>
          <a:solidFill>
            <a:srgbClr val="E05A30">
              <a:alpha val="20000"/>
            </a:srgbClr>
          </a:solidFill>
          <a:ln w="12700">
            <a:solidFill>
              <a:srgbClr val="E05A30"/>
            </a:solidFill>
            <a:prstDash val="solid"/>
          </a:ln>
        </p:spPr>
      </p:sp>
      <p:sp>
        <p:nvSpPr>
          <p:cNvPr id="7" name="Text 5"/>
          <p:cNvSpPr/>
          <p:nvPr/>
        </p:nvSpPr>
        <p:spPr>
          <a:xfrm>
            <a:off x="457200" y="3840480"/>
            <a:ext cx="1508760" cy="457200"/>
          </a:xfrm>
          <a:prstGeom prst="rect">
            <a:avLst/>
          </a:prstGeom>
          <a:noFill/>
          <a:ln/>
        </p:spPr>
        <p:txBody>
          <a:bodyPr wrap="square" rtlCol="0" anchor="ctr"/>
          <a:lstStyle/>
          <a:p>
            <a:pPr algn="ctr" indent="0" marL="0">
              <a:buNone/>
            </a:pPr>
            <a:r>
              <a:rPr lang="en-US" sz="1100" b="1" dirty="0">
                <a:solidFill>
                  <a:srgbClr val="E05A30"/>
                </a:solidFill>
                <a:latin typeface="Calibri" pitchFamily="34" charset="0"/>
                <a:ea typeface="Calibri" pitchFamily="34" charset="-122"/>
                <a:cs typeface="Calibri" pitchFamily="34" charset="-120"/>
              </a:rPr>
              <a:t>Request</a:t>
            </a:r>
            <a:endParaRPr lang="en-US" sz="1100" dirty="0"/>
          </a:p>
        </p:txBody>
      </p:sp>
      <p:sp>
        <p:nvSpPr>
          <p:cNvPr id="8" name="Shape 6"/>
          <p:cNvSpPr/>
          <p:nvPr/>
        </p:nvSpPr>
        <p:spPr>
          <a:xfrm>
            <a:off x="2121408" y="3840480"/>
            <a:ext cx="1508760" cy="457200"/>
          </a:xfrm>
          <a:prstGeom prst="rect">
            <a:avLst/>
          </a:prstGeom>
          <a:solidFill>
            <a:srgbClr val="EF9F27">
              <a:alpha val="20000"/>
            </a:srgbClr>
          </a:solidFill>
          <a:ln w="12700">
            <a:solidFill>
              <a:srgbClr val="EF9F27"/>
            </a:solidFill>
            <a:prstDash val="solid"/>
          </a:ln>
        </p:spPr>
      </p:sp>
      <p:sp>
        <p:nvSpPr>
          <p:cNvPr id="9" name="Text 7"/>
          <p:cNvSpPr/>
          <p:nvPr/>
        </p:nvSpPr>
        <p:spPr>
          <a:xfrm>
            <a:off x="2121408" y="3840480"/>
            <a:ext cx="1508760" cy="457200"/>
          </a:xfrm>
          <a:prstGeom prst="rect">
            <a:avLst/>
          </a:prstGeom>
          <a:noFill/>
          <a:ln/>
        </p:spPr>
        <p:txBody>
          <a:bodyPr wrap="square" rtlCol="0" anchor="ctr"/>
          <a:lstStyle/>
          <a:p>
            <a:pPr algn="ctr" indent="0" marL="0">
              <a:buNone/>
            </a:pPr>
            <a:r>
              <a:rPr lang="en-US" sz="1100" b="1" dirty="0">
                <a:solidFill>
                  <a:srgbClr val="EF9F27"/>
                </a:solidFill>
                <a:latin typeface="Calibri" pitchFamily="34" charset="0"/>
                <a:ea typeface="Calibri" pitchFamily="34" charset="-122"/>
                <a:cs typeface="Calibri" pitchFamily="34" charset="-120"/>
              </a:rPr>
              <a:t>Identity</a:t>
            </a:r>
            <a:endParaRPr lang="en-US" sz="1100" dirty="0"/>
          </a:p>
        </p:txBody>
      </p:sp>
      <p:sp>
        <p:nvSpPr>
          <p:cNvPr id="10" name="Shape 8"/>
          <p:cNvSpPr/>
          <p:nvPr/>
        </p:nvSpPr>
        <p:spPr>
          <a:xfrm>
            <a:off x="3785616" y="3840480"/>
            <a:ext cx="1508760" cy="457200"/>
          </a:xfrm>
          <a:prstGeom prst="rect">
            <a:avLst/>
          </a:prstGeom>
          <a:solidFill>
            <a:srgbClr val="1D9E75">
              <a:alpha val="20000"/>
            </a:srgbClr>
          </a:solidFill>
          <a:ln w="12700">
            <a:solidFill>
              <a:srgbClr val="1D9E75"/>
            </a:solidFill>
            <a:prstDash val="solid"/>
          </a:ln>
        </p:spPr>
      </p:sp>
      <p:sp>
        <p:nvSpPr>
          <p:cNvPr id="11" name="Text 9"/>
          <p:cNvSpPr/>
          <p:nvPr/>
        </p:nvSpPr>
        <p:spPr>
          <a:xfrm>
            <a:off x="3785616" y="3840480"/>
            <a:ext cx="1508760" cy="457200"/>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Decision</a:t>
            </a:r>
            <a:endParaRPr lang="en-US" sz="1100" dirty="0"/>
          </a:p>
        </p:txBody>
      </p:sp>
      <p:sp>
        <p:nvSpPr>
          <p:cNvPr id="12" name="Shape 10"/>
          <p:cNvSpPr/>
          <p:nvPr/>
        </p:nvSpPr>
        <p:spPr>
          <a:xfrm>
            <a:off x="5449824" y="3840480"/>
            <a:ext cx="1508760" cy="457200"/>
          </a:xfrm>
          <a:prstGeom prst="rect">
            <a:avLst/>
          </a:prstGeom>
          <a:solidFill>
            <a:srgbClr val="1D9E75">
              <a:alpha val="20000"/>
            </a:srgbClr>
          </a:solidFill>
          <a:ln w="12700">
            <a:solidFill>
              <a:srgbClr val="1D9E75"/>
            </a:solidFill>
            <a:prstDash val="solid"/>
          </a:ln>
        </p:spPr>
      </p:sp>
      <p:sp>
        <p:nvSpPr>
          <p:cNvPr id="13" name="Text 11"/>
          <p:cNvSpPr/>
          <p:nvPr/>
        </p:nvSpPr>
        <p:spPr>
          <a:xfrm>
            <a:off x="5449824" y="3840480"/>
            <a:ext cx="1508760" cy="457200"/>
          </a:xfrm>
          <a:prstGeom prst="rect">
            <a:avLst/>
          </a:prstGeom>
          <a:noFill/>
          <a:ln/>
        </p:spPr>
        <p:txBody>
          <a:bodyPr wrap="square" rtlCol="0" anchor="ctr"/>
          <a:lstStyle/>
          <a:p>
            <a:pPr algn="ctr" indent="0" marL="0">
              <a:buNone/>
            </a:pPr>
            <a:r>
              <a:rPr lang="en-US" sz="1100" b="1" dirty="0">
                <a:solidFill>
                  <a:srgbClr val="1D9E75"/>
                </a:solidFill>
                <a:latin typeface="Calibri" pitchFamily="34" charset="0"/>
                <a:ea typeface="Calibri" pitchFamily="34" charset="-122"/>
                <a:cs typeface="Calibri" pitchFamily="34" charset="-120"/>
              </a:rPr>
              <a:t>Delivery</a:t>
            </a:r>
            <a:endParaRPr lang="en-US" sz="1100" dirty="0"/>
          </a:p>
        </p:txBody>
      </p:sp>
      <p:sp>
        <p:nvSpPr>
          <p:cNvPr id="14" name="Shape 12"/>
          <p:cNvSpPr/>
          <p:nvPr/>
        </p:nvSpPr>
        <p:spPr>
          <a:xfrm>
            <a:off x="7114032" y="3840480"/>
            <a:ext cx="1508760" cy="457200"/>
          </a:xfrm>
          <a:prstGeom prst="rect">
            <a:avLst/>
          </a:prstGeom>
          <a:solidFill>
            <a:srgbClr val="7F77DD">
              <a:alpha val="20000"/>
            </a:srgbClr>
          </a:solidFill>
          <a:ln w="12700">
            <a:solidFill>
              <a:srgbClr val="7F77DD"/>
            </a:solidFill>
            <a:prstDash val="solid"/>
          </a:ln>
        </p:spPr>
      </p:sp>
      <p:sp>
        <p:nvSpPr>
          <p:cNvPr id="15" name="Text 13"/>
          <p:cNvSpPr/>
          <p:nvPr/>
        </p:nvSpPr>
        <p:spPr>
          <a:xfrm>
            <a:off x="7114032" y="3840480"/>
            <a:ext cx="1508760" cy="457200"/>
          </a:xfrm>
          <a:prstGeom prst="rect">
            <a:avLst/>
          </a:prstGeom>
          <a:noFill/>
          <a:ln/>
        </p:spPr>
        <p:txBody>
          <a:bodyPr wrap="square" rtlCol="0" anchor="ctr"/>
          <a:lstStyle/>
          <a:p>
            <a:pPr algn="ctr" indent="0" marL="0">
              <a:buNone/>
            </a:pPr>
            <a:r>
              <a:rPr lang="en-US" sz="1100" b="1" dirty="0">
                <a:solidFill>
                  <a:srgbClr val="7F77DD"/>
                </a:solidFill>
                <a:latin typeface="Calibri" pitchFamily="34" charset="0"/>
                <a:ea typeface="Calibri" pitchFamily="34" charset="-122"/>
                <a:cs typeface="Calibri" pitchFamily="34" charset="-120"/>
              </a:rPr>
              <a:t>Render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Journey of a Netflix Stream</dc:title>
  <dc:subject>PptxGenJS Presentation</dc:subject>
  <dc:creator>Visual Story</dc:creator>
  <cp:lastModifiedBy>Visual Story</cp:lastModifiedBy>
  <cp:revision>1</cp:revision>
  <dcterms:created xsi:type="dcterms:W3CDTF">2026-04-16T03:06:03Z</dcterms:created>
  <dcterms:modified xsi:type="dcterms:W3CDTF">2026-04-16T03:06:03Z</dcterms:modified>
</cp:coreProperties>
</file>